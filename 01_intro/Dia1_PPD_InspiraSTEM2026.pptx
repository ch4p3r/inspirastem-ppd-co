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113" r:id="rId4"/>
  </p:sldMasterIdLst>
  <p:notesMasterIdLst>
    <p:notesMasterId r:id="rId28"/>
  </p:notesMasterIdLst>
  <p:handoutMasterIdLst>
    <p:handoutMasterId r:id="rId29"/>
  </p:handoutMasterIdLst>
  <p:sldIdLst>
    <p:sldId id="258" r:id="rId5"/>
    <p:sldId id="272" r:id="rId6"/>
    <p:sldId id="268" r:id="rId7"/>
    <p:sldId id="280" r:id="rId8"/>
    <p:sldId id="279" r:id="rId9"/>
    <p:sldId id="288" r:id="rId10"/>
    <p:sldId id="275" r:id="rId11"/>
    <p:sldId id="277" r:id="rId12"/>
    <p:sldId id="270" r:id="rId13"/>
    <p:sldId id="281" r:id="rId14"/>
    <p:sldId id="282" r:id="rId15"/>
    <p:sldId id="283" r:id="rId16"/>
    <p:sldId id="260" r:id="rId17"/>
    <p:sldId id="285" r:id="rId18"/>
    <p:sldId id="289" r:id="rId19"/>
    <p:sldId id="290" r:id="rId20"/>
    <p:sldId id="286" r:id="rId21"/>
    <p:sldId id="292" r:id="rId22"/>
    <p:sldId id="265" r:id="rId23"/>
    <p:sldId id="291" r:id="rId24"/>
    <p:sldId id="287" r:id="rId25"/>
    <p:sldId id="269" r:id="rId26"/>
    <p:sldId id="274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59" autoAdjust="0"/>
    <p:restoredTop sz="81301" autoAdjust="0"/>
  </p:normalViewPr>
  <p:slideViewPr>
    <p:cSldViewPr showGuides="1">
      <p:cViewPr varScale="1">
        <p:scale>
          <a:sx n="102" d="100"/>
          <a:sy n="102" d="100"/>
        </p:scale>
        <p:origin x="1672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892"/>
    </p:cViewPr>
  </p:sorterViewPr>
  <p:notesViewPr>
    <p:cSldViewPr>
      <p:cViewPr varScale="1">
        <p:scale>
          <a:sx n="90" d="100"/>
          <a:sy n="90" d="100"/>
        </p:scale>
        <p:origin x="292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9/20/26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9/20/26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324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5633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9617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6785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9741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BBC84-2D4D-070D-36D8-C7EAB2C16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D0D6ED-2748-AA78-6B64-DE28CA105E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3EFF86-A30C-308A-ED2F-0A7ACFB6FA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FBE3A6-38E9-52E6-088A-51BE4C468E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4354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5413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BF8AF-2CFA-3B0C-FDDA-7D7848D74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183195-AE72-EF40-A1F4-0D22CF982F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981972-975D-913F-CBFA-E4E6300130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163D7C-1C28-9C78-86E8-F8CC04583E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8515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6561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1EA5C-F3A7-7708-5ECE-D286705AF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2B8BAC-2902-2DDF-6D7B-D070180228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50E26D-2C4D-E5AA-5756-DECA62823D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97165-625D-03F8-65F3-5880BBFCAB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0724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5F085-615B-BD67-73C5-322E069DD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622F3B-18C8-C8E1-83E4-305DE8F967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33645A-5863-4211-3DAD-531B49C18D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0D5031-2E21-ACE6-304D-02AA718E56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1825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20B7B-AF4C-BB91-095A-42527F10A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F73263-E5B8-FCAE-136D-DD4B688A3E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D0D075-952D-77E6-BEEC-40573A09B5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DC79E9-268F-9CDB-1C70-F1F65BB516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2880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7241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8797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6430E-AF3B-6E9B-1CB1-067B26841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7A69CA-D841-E9F8-1383-42A174BFBB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DECAB4-562B-39D9-3B9F-83A8D53C4E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8AF6A6-50FA-822D-A5F5-E987BF104E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5613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7F87D-D2A9-523E-916F-06AADAD5C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D7F6F9-A130-427B-FE06-20E63D97D6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F26067-5D73-0E45-ED58-354A47C198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C408CD-98B4-C0E1-6930-33C7183295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7442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566AA-5E05-0C00-FD65-7AE3B2371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6FBBC9-C4EE-9E17-C9C2-A9E5050D34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A20347-AE97-C410-834C-4236D0D1BA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532DC0-E3CE-04F7-8B78-18973B41EC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0635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C0EA2-33D4-769B-1F34-047FD1F97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817F31-5C3F-E88E-0F55-347223F5B2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87A8C1-9BC8-AD5D-4D00-3CCD8ABDE8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E0DA00-FA3D-73E3-53A9-EDA630CA6C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5617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1562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2BAC2-FFF3-7A1A-E1F2-CDA503CCF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D35DD6-A6F0-860F-25CE-B84AB0A002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76A7A0-31C3-4FEF-78B0-2D8FA6F56D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383A5E-17AD-C66D-DD68-A075D674E3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0289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52FAA-FF79-2630-ACDE-AB06C2201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38103D-2C1E-8B49-40ED-3489E87C51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F05324-447C-B25A-206D-850E75A7FF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3C8A95-C8DC-3D06-8E19-F37B18CC0B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0370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5221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676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10055354" cy="400740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A3647E-D38D-4EA6-ADC1-75AA53F89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27002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InspiraSTEM 2026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1733F41-0D5D-4BD1-9B7A-D4E6507FF061}" type="datetime1">
              <a:rPr lang="en-US" smtClean="0"/>
              <a:t>9/20/26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0459DEE-913E-5261-4E77-AF3657E3AE0B}"/>
              </a:ext>
            </a:extLst>
          </p:cNvPr>
          <p:cNvSpPr/>
          <p:nvPr/>
        </p:nvSpPr>
        <p:spPr>
          <a:xfrm>
            <a:off x="11250895" y="4648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2F9BC4F-9D44-3587-056B-336E1457A6E2}"/>
              </a:ext>
            </a:extLst>
          </p:cNvPr>
          <p:cNvSpPr/>
          <p:nvPr/>
        </p:nvSpPr>
        <p:spPr>
          <a:xfrm>
            <a:off x="685800" y="4998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09D5EC-E7EA-22BC-7C88-C33F509CB5CF}"/>
              </a:ext>
            </a:extLst>
          </p:cNvPr>
          <p:cNvSpPr/>
          <p:nvPr/>
        </p:nvSpPr>
        <p:spPr>
          <a:xfrm>
            <a:off x="10998565" y="4730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8E9758-F942-96A0-231D-A25933E4CA82}"/>
              </a:ext>
            </a:extLst>
          </p:cNvPr>
          <p:cNvSpPr/>
          <p:nvPr/>
        </p:nvSpPr>
        <p:spPr>
          <a:xfrm>
            <a:off x="10976145" y="4730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5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63655" cy="762001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828800"/>
            <a:ext cx="10963656" cy="43434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CA07995-5D53-4776-85C9-63AB19177BBD}" type="datetime1">
              <a:rPr lang="en-US" smtClean="0"/>
              <a:t>9/20/26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317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C6C0090-085A-1FB3-B3B7-D8DA73A12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72" y="4419600"/>
            <a:ext cx="10963657" cy="135224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6834447-947D-F9FA-98D1-8BF0FC477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172" y="5943600"/>
            <a:ext cx="10963657" cy="609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573ACD2-30C7-6922-D14F-66F23CBA37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41148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85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813B312-A2CE-16E4-D28B-8DDFF5527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6746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846D76D-B1D3-9330-420A-6ED740BDB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982E949F-6B9B-8268-EB83-127C78D435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6746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35138" y="6343955"/>
            <a:ext cx="14589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05EB9AD9-3A09-43DA-BE06-99F2877C8370}" type="datetime1">
              <a:rPr lang="en-US" smtClean="0"/>
              <a:t>9/20/26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53745E-5DC2-F332-24A5-4F8F509E820B}"/>
              </a:ext>
            </a:extLst>
          </p:cNvPr>
          <p:cNvCxnSpPr/>
          <p:nvPr userDrawn="1"/>
        </p:nvCxnSpPr>
        <p:spPr>
          <a:xfrm>
            <a:off x="4479797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702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4076" y="685801"/>
            <a:ext cx="4872227" cy="27432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552" y="5277548"/>
            <a:ext cx="4873752" cy="89463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A0A082-71CB-3C57-3B74-102869C0CA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2552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4E713609-24E4-49C2-8D3B-54DF98B5FB15}" type="datetime1">
              <a:rPr lang="en-US" smtClean="0"/>
              <a:t>9/20/26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73E34-3B51-EAD4-B8AB-256ACA4B8D8C}"/>
              </a:ext>
            </a:extLst>
          </p:cNvPr>
          <p:cNvCxnSpPr>
            <a:cxnSpLocks/>
          </p:cNvCxnSpPr>
          <p:nvPr userDrawn="1"/>
        </p:nvCxnSpPr>
        <p:spPr>
          <a:xfrm>
            <a:off x="6704076" y="4876800"/>
            <a:ext cx="487375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86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BC951B-4746-1854-C399-682CFE142A50}"/>
              </a:ext>
            </a:extLst>
          </p:cNvPr>
          <p:cNvCxnSpPr/>
          <p:nvPr userDrawn="1"/>
        </p:nvCxnSpPr>
        <p:spPr>
          <a:xfrm>
            <a:off x="612646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6" y="6338703"/>
            <a:ext cx="207048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887367" y="6338703"/>
            <a:ext cx="139257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FAFB90B-BD82-4285-8703-51C27E8EBB24}" type="datetime1">
              <a:rPr lang="en-US" smtClean="0"/>
              <a:t>9/20/26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79945" y="6342301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193964F-665E-F49A-D553-C01524CDE0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02749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63613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84F42E-A74C-773B-7B96-F942975CEC14}"/>
              </a:ext>
            </a:extLst>
          </p:cNvPr>
          <p:cNvSpPr/>
          <p:nvPr/>
        </p:nvSpPr>
        <p:spPr>
          <a:xfrm>
            <a:off x="11250895" y="5144929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41727F-19A3-14E1-5EAC-C550CEB6A0D1}"/>
              </a:ext>
            </a:extLst>
          </p:cNvPr>
          <p:cNvSpPr/>
          <p:nvPr/>
        </p:nvSpPr>
        <p:spPr>
          <a:xfrm>
            <a:off x="685800" y="5495424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38F4BC9-7EC1-BB35-827A-12F5DE411031}"/>
              </a:ext>
            </a:extLst>
          </p:cNvPr>
          <p:cNvSpPr/>
          <p:nvPr/>
        </p:nvSpPr>
        <p:spPr>
          <a:xfrm>
            <a:off x="10998565" y="5227361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4B01422-D65E-4B59-B62B-467B2E896592}"/>
              </a:ext>
            </a:extLst>
          </p:cNvPr>
          <p:cNvSpPr/>
          <p:nvPr/>
        </p:nvSpPr>
        <p:spPr>
          <a:xfrm>
            <a:off x="10976145" y="5227366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600200"/>
            <a:ext cx="10483927" cy="349287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9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31314"/>
            <a:ext cx="10483927" cy="816864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234111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234111"/>
            <a:ext cx="2875064" cy="365125"/>
          </a:xfrm>
        </p:spPr>
        <p:txBody>
          <a:bodyPr>
            <a:noAutofit/>
          </a:bodyPr>
          <a:lstStyle/>
          <a:p>
            <a:fld id="{8E552079-66A3-4E75-868B-9BDD1552A3D8}" type="datetime1">
              <a:rPr lang="en-US" smtClean="0"/>
              <a:t>9/20/26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234111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Line">
            <a:extLst>
              <a:ext uri="{FF2B5EF4-FFF2-40B4-BE49-F238E27FC236}">
                <a16:creationId xmlns:a16="http://schemas.microsoft.com/office/drawing/2014/main" id="{92FB147E-E273-E8B6-AD8E-67F305FC2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71802" y="4038600"/>
            <a:ext cx="10923934" cy="74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3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BBA50F-B667-1177-26B1-7D22AB66A6BE}"/>
              </a:ext>
            </a:extLst>
          </p:cNvPr>
          <p:cNvSpPr/>
          <p:nvPr/>
        </p:nvSpPr>
        <p:spPr>
          <a:xfrm>
            <a:off x="11250895" y="464515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CABC7F5-2293-EB7F-52E5-80715C8DB858}"/>
              </a:ext>
            </a:extLst>
          </p:cNvPr>
          <p:cNvSpPr/>
          <p:nvPr/>
        </p:nvSpPr>
        <p:spPr>
          <a:xfrm>
            <a:off x="685800" y="499564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A8C943-7CF3-88D6-95B0-95E7B412DE0F}"/>
              </a:ext>
            </a:extLst>
          </p:cNvPr>
          <p:cNvSpPr/>
          <p:nvPr/>
        </p:nvSpPr>
        <p:spPr>
          <a:xfrm>
            <a:off x="10998565" y="472758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B0A8E7-2867-2D3A-F6B7-15ED02236CE8}"/>
              </a:ext>
            </a:extLst>
          </p:cNvPr>
          <p:cNvSpPr/>
          <p:nvPr/>
        </p:nvSpPr>
        <p:spPr>
          <a:xfrm>
            <a:off x="10976145" y="472758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31536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InspiraSTEM 2026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7DD90A2E-1B22-4804-9B7B-7BF58B42AB68}" type="datetime1">
              <a:rPr lang="en-US" smtClean="0"/>
              <a:t>9/20/26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53A7BE5-EAB2-BB8C-D7FC-D78B8A5A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8"/>
            <a:ext cx="10058400" cy="335584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39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6AC1F45-7001-8B9F-DFF6-7AB9BDFFEEB2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4C7D192-E835-0A48-0A40-F45D83E2583F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FB376E1-8198-EB00-587E-C647BCF364D4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F94599F-6DE1-A082-E9E1-D732956078A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/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/>
          <a:p>
            <a:fld id="{470F8402-2A40-4993-B30B-96CC0AA51B13}" type="datetime1">
              <a:rPr lang="en-US" smtClean="0"/>
              <a:t>9/20/26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496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1C10CD-8205-284F-2921-9485E7A98F0D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5DFD7E-DC78-4573-96D7-845D38E0273E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FCC10B5-4890-B43F-DE24-5200F4E75EEB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D5586E6-D520-6A63-5060-BF06C136BEF5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F96641-E00A-4310-B8FB-C135D0C5873A}" type="datetime1">
              <a:rPr lang="en-US" smtClean="0"/>
              <a:t>9/20/26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8995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ADE904-3C65-5E48-6B12-22998C2ADF5E}"/>
              </a:ext>
            </a:extLst>
          </p:cNvPr>
          <p:cNvSpPr/>
          <p:nvPr/>
        </p:nvSpPr>
        <p:spPr>
          <a:xfrm>
            <a:off x="11250895" y="217232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16963C8-87F3-6B42-F30F-1915935FA752}"/>
              </a:ext>
            </a:extLst>
          </p:cNvPr>
          <p:cNvSpPr/>
          <p:nvPr/>
        </p:nvSpPr>
        <p:spPr>
          <a:xfrm>
            <a:off x="685800" y="252281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0C119A-1D9E-D43F-8A7E-D24C1B551326}"/>
              </a:ext>
            </a:extLst>
          </p:cNvPr>
          <p:cNvSpPr/>
          <p:nvPr/>
        </p:nvSpPr>
        <p:spPr>
          <a:xfrm>
            <a:off x="10998565" y="225475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018CE4-7594-0746-8B7E-8DEC95CB8822}"/>
              </a:ext>
            </a:extLst>
          </p:cNvPr>
          <p:cNvSpPr/>
          <p:nvPr/>
        </p:nvSpPr>
        <p:spPr>
          <a:xfrm>
            <a:off x="10976145" y="225475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185" y="685800"/>
            <a:ext cx="9141415" cy="1532788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185" y="2958705"/>
            <a:ext cx="9141415" cy="3213494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 marL="914400" indent="0"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ECB15CD1-0A2D-4058-B7BD-5251874E8FC8}" type="datetime1">
              <a:rPr lang="en-US" smtClean="0"/>
              <a:t>9/20/26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2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85800"/>
            <a:ext cx="5480304" cy="1818050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F861DB-D5EF-3FC9-7595-570C8498D7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7725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3189770"/>
            <a:ext cx="5480304" cy="2982429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C1A172-F829-D2DE-BDB2-B86E6ACE1886}"/>
              </a:ext>
            </a:extLst>
          </p:cNvPr>
          <p:cNvCxnSpPr>
            <a:cxnSpLocks/>
          </p:cNvCxnSpPr>
          <p:nvPr userDrawn="1"/>
        </p:nvCxnSpPr>
        <p:spPr>
          <a:xfrm>
            <a:off x="6095999" y="2743200"/>
            <a:ext cx="54772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43955"/>
            <a:ext cx="2985400" cy="365125"/>
          </a:xfrm>
        </p:spPr>
        <p:txBody>
          <a:bodyPr>
            <a:noAutofit/>
          </a:bodyPr>
          <a:lstStyle/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>
            <a:noAutofit/>
          </a:bodyPr>
          <a:lstStyle/>
          <a:p>
            <a:fld id="{5DB5B10A-5083-404B-BC8E-8C7FFE2C14CB}" type="datetime1">
              <a:rPr lang="en-US" smtClean="0"/>
              <a:t>9/20/26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176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824824"/>
            <a:ext cx="6397753" cy="1527976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3505200"/>
            <a:ext cx="4568953" cy="164519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B3A12148-5DA4-4983-90AA-A6D6C9D21BFF}" type="datetime1">
              <a:rPr lang="en-US" smtClean="0"/>
              <a:t>9/20/26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9251BE-373D-9B13-B9E2-73DFEBE40118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98E032-CDEE-AA9B-44A7-CE5EBB6948C0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778913-9F6C-8FDD-B123-16048004EC56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283179-133D-0E64-C08A-4D59C8B2F9D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455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3" cy="365760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1" y="685800"/>
            <a:ext cx="4572000" cy="36576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EE352-598A-4B1B-B5C3-5AF0F480D9F4}" type="datetime1">
              <a:rPr lang="en-US" smtClean="0"/>
              <a:t>9/20/26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662DADE-FB83-6BD4-1D72-E22F0783A67E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7CD6A0-64A5-5058-DFD2-8DD1FAF7BEEB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E8E4321-3109-17F5-C530-4108033F07F5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AAD0450-E765-A0E1-7C56-37246411FDD0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4037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05E2B5C-398A-3F2F-4BCC-FFF94D44632F}"/>
              </a:ext>
            </a:extLst>
          </p:cNvPr>
          <p:cNvSpPr/>
          <p:nvPr/>
        </p:nvSpPr>
        <p:spPr>
          <a:xfrm>
            <a:off x="11250895" y="5407944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2897460-3A7D-EC5C-76B9-2725193E10AF}"/>
              </a:ext>
            </a:extLst>
          </p:cNvPr>
          <p:cNvSpPr/>
          <p:nvPr/>
        </p:nvSpPr>
        <p:spPr>
          <a:xfrm>
            <a:off x="685800" y="5758439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2E741-698E-A2B8-7BD5-9DE89C610C2F}"/>
              </a:ext>
            </a:extLst>
          </p:cNvPr>
          <p:cNvSpPr/>
          <p:nvPr/>
        </p:nvSpPr>
        <p:spPr>
          <a:xfrm>
            <a:off x="10998565" y="5490376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A04551B-2E70-1734-DA15-F26ABEC9D9D0}"/>
              </a:ext>
            </a:extLst>
          </p:cNvPr>
          <p:cNvSpPr/>
          <p:nvPr/>
        </p:nvSpPr>
        <p:spPr>
          <a:xfrm>
            <a:off x="10976145" y="5490381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408358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045390" cy="4083579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InspiraSTEM 2026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D1738-F72D-408F-AEE4-26AF1CA64327}" type="datetime1">
              <a:rPr lang="en-US" smtClean="0"/>
              <a:t>9/20/26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4667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85B71F7-9EDC-DB6C-D713-7ACE3A2EADC0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842DDA-AD76-0064-2B85-CB145F4CE540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E58AC6-620E-20FA-E8F5-375DA2977A43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A14E2E-5098-2800-A72C-138A5840365C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85800"/>
            <a:ext cx="3652523" cy="410246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5500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InspiraSTEM 2026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4D88C37A-4495-4513-9713-FE58B2562479}" type="datetime1">
              <a:rPr lang="en-US" smtClean="0"/>
              <a:t>9/20/26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417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94DE839-4377-D8CF-B2A4-D0C3E0F49821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5E5478-C025-8AD6-B7FE-E95C356E887C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0EF54C8-1B9C-18F9-4647-D96F1A37BC05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C1B42D9-101B-9822-0BAF-F80E962BB4CD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4" cy="455025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6401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InspiraSTEM 2026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471237A6-433D-4685-950E-B488DB1C21EB}" type="datetime1">
              <a:rPr lang="en-US" smtClean="0"/>
              <a:t>9/20/26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1670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C2E340-F7F3-5093-0E0A-41015057E720}"/>
              </a:ext>
            </a:extLst>
          </p:cNvPr>
          <p:cNvCxnSpPr/>
          <p:nvPr userDrawn="1"/>
        </p:nvCxnSpPr>
        <p:spPr>
          <a:xfrm>
            <a:off x="5191026" y="2362200"/>
            <a:ext cx="6391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1026" y="685807"/>
            <a:ext cx="6391374" cy="1372001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0729" y="2743204"/>
            <a:ext cx="6395573" cy="3428989"/>
          </a:xfrm>
        </p:spPr>
        <p:txBody>
          <a:bodyPr>
            <a:noAutofit/>
          </a:bodyPr>
          <a:lstStyle>
            <a:lvl1pPr>
              <a:defRPr sz="14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91026" y="6343825"/>
            <a:ext cx="336490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F2D0B93-F0C6-4EDC-8D01-21AF8414DB0B}" type="datetime1">
              <a:rPr lang="en-US" smtClean="0"/>
              <a:t>9/20/26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8936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81EABF-B6BB-1FBF-962C-A6A6C8C2418A}"/>
              </a:ext>
            </a:extLst>
          </p:cNvPr>
          <p:cNvCxnSpPr/>
          <p:nvPr userDrawn="1"/>
        </p:nvCxnSpPr>
        <p:spPr>
          <a:xfrm>
            <a:off x="612647" y="2359152"/>
            <a:ext cx="633679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3" y="2742645"/>
            <a:ext cx="6391247" cy="342955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>
            <a:noAutofit/>
          </a:bodyPr>
          <a:lstStyle/>
          <a:p>
            <a:fld id="{60B16E6A-BE66-4C10-B2EF-82D497452037}" type="datetime1">
              <a:rPr lang="en-US" smtClean="0"/>
              <a:t>9/20/26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35EC8126-6431-465A-8AC3-0118DD8825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1546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85427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fld id="{75525F09-654A-4986-AEB5-105943927FFF}" type="datetime1">
              <a:rPr lang="en-US" smtClean="0"/>
              <a:t>9/20/26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216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>
            <a:noAutofit/>
          </a:bodyPr>
          <a:lstStyle/>
          <a:p>
            <a:fld id="{6B95A195-06ED-425C-AE42-5F401074E527}" type="datetime1">
              <a:rPr lang="en-US" smtClean="0"/>
              <a:t>9/20/26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62236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EEFBBBB-A526-5A93-34B8-A377087586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20736" y="2286000"/>
            <a:ext cx="4561665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0736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InspiraSTEM 2026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FE0BBBF-88A1-45D0-92F4-688C9A9EB746}" type="datetime1">
              <a:rPr lang="en-US" smtClean="0"/>
              <a:t>9/20/26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992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72002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" y="2286000"/>
            <a:ext cx="4561666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C6055EC-0CB7-A026-AE8C-74A36F76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InspiraSTEM 2026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E86096B-57D4-1243-A86D-1D5E7DC3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63930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CB9A693-1CEA-4CE5-97C0-B744E2E4C443}" type="datetime1">
              <a:rPr lang="en-US" smtClean="0"/>
              <a:t>9/20/26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A98A8E55-200E-96B4-1462-6DA457A2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5959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8233842-32AB-C53C-CA20-8101D4E63D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01536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470453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4" y="687787"/>
            <a:ext cx="3363259" cy="199339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1" y="2880360"/>
            <a:ext cx="3363259" cy="327461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212663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24724" y="6343955"/>
            <a:ext cx="922372" cy="365125"/>
          </a:xfrm>
        </p:spPr>
        <p:txBody>
          <a:bodyPr>
            <a:noAutofit/>
          </a:bodyPr>
          <a:lstStyle/>
          <a:p>
            <a:fld id="{DB4E5125-F631-497D-9D66-6B16EDCEF9EC}" type="datetime1">
              <a:rPr lang="en-US" smtClean="0"/>
              <a:t>9/20/26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447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0"/>
            <a:ext cx="3364992" cy="1996301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98" y="2880360"/>
            <a:ext cx="3364992" cy="323485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C119522C-433C-CA02-AD5B-2ABB39A416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8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6C67AD-99A1-8DF0-C332-BB3E0C5371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27759" y="6343955"/>
            <a:ext cx="922372" cy="365125"/>
          </a:xfrm>
        </p:spPr>
        <p:txBody>
          <a:bodyPr>
            <a:noAutofit/>
          </a:bodyPr>
          <a:lstStyle/>
          <a:p>
            <a:fld id="{0E3E2ABA-0858-4C47-B63B-EB20BF7CDCB4}" type="datetime1">
              <a:rPr lang="en-US" smtClean="0"/>
              <a:t>9/20/26</a:t>
            </a:fld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C8D2CF7B-FF7A-7960-DB96-2B1846DA41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0131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08A763A-F1F9-D459-6C34-3976566275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19643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685800"/>
            <a:ext cx="2748115" cy="2743200"/>
          </a:xfrm>
          <a:noFill/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87E718-4223-B4DB-C92A-99E891E642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9200" y="3703320"/>
            <a:ext cx="2743201" cy="2476061"/>
          </a:xfrm>
          <a:noFill/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9200" y="6343955"/>
            <a:ext cx="1404460" cy="365125"/>
          </a:xfrm>
          <a:noFill/>
        </p:spPr>
        <p:txBody>
          <a:bodyPr>
            <a:noAutofit/>
          </a:bodyPr>
          <a:lstStyle/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58188D3-29F4-441A-8648-3BEDA709658E}" type="datetime1">
              <a:rPr lang="en-US" smtClean="0"/>
              <a:t>9/20/26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noFill/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498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685800"/>
            <a:ext cx="2748114" cy="27432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703320"/>
            <a:ext cx="2743200" cy="247606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44F6AEF-CB45-AC6F-F205-7AB27767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>
            <a:noAutofit/>
          </a:bodyPr>
          <a:lstStyle/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980DDA2F-B408-A7AF-463F-3F6ED55C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019" y="6343955"/>
            <a:ext cx="85457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23F55E9-8BCB-4919-8BA5-D3C6BE098DEB}" type="datetime1">
              <a:rPr lang="en-US" smtClean="0"/>
              <a:t>9/20/26</a:t>
            </a:fld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C6A3F52-E7A3-B732-2650-C47F8BE2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3593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0894EEF-95B5-F8FE-9FBB-D5DFD413C0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6240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611547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343400"/>
            <a:ext cx="4019522" cy="115993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0CE544-3552-FE00-5B00-942E522A2A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4343400"/>
            <a:ext cx="6400800" cy="115993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InspiraSTEM 2026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EE2DBAF7-BE63-4E6D-BB43-E0515C135A52}" type="datetime1">
              <a:rPr lang="en-US" smtClean="0"/>
              <a:t>9/20/26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114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6200"/>
            <a:ext cx="3044954" cy="2245126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3886200"/>
            <a:ext cx="7315199" cy="224512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9738B68-D6E8-46F0-93D8-563AD462B8A4}" type="datetime1">
              <a:rPr lang="en-US" smtClean="0"/>
              <a:t>9/20/26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600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3044954" cy="2035724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9158" y="685800"/>
            <a:ext cx="7315199" cy="201466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2896372"/>
            <a:ext cx="2791027" cy="365125"/>
          </a:xfrm>
        </p:spPr>
        <p:txBody>
          <a:bodyPr>
            <a:noAutofit/>
          </a:bodyPr>
          <a:lstStyle/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2896372"/>
            <a:ext cx="1559379" cy="365125"/>
          </a:xfrm>
        </p:spPr>
        <p:txBody>
          <a:bodyPr>
            <a:noAutofit/>
          </a:bodyPr>
          <a:lstStyle/>
          <a:p>
            <a:fld id="{60700CB6-F9D2-4B8E-8051-B1762706001A}" type="datetime1">
              <a:rPr lang="en-US" smtClean="0"/>
              <a:t>9/20/26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2896372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178283B-8F20-CAA0-928D-318B857F9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414669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76729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8"/>
            <a:ext cx="5483353" cy="1388318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651760"/>
            <a:ext cx="5483352" cy="3521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B12E0E-A617-768A-7E0E-472481185B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7792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1D70B4-629A-1A3A-D1BB-D35C3AED4BAD}"/>
              </a:ext>
            </a:extLst>
          </p:cNvPr>
          <p:cNvCxnSpPr>
            <a:cxnSpLocks/>
          </p:cNvCxnSpPr>
          <p:nvPr userDrawn="1"/>
        </p:nvCxnSpPr>
        <p:spPr>
          <a:xfrm>
            <a:off x="609600" y="236222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8F922763-A12B-44C2-4F2D-AAD3B317E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88D44AB0-B4BD-5097-DB6C-0B96B75B1DA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8F378176-AAE8-4F37-8F8B-ADE84F78A1B1}" type="datetime1">
              <a:rPr lang="en-US" smtClean="0"/>
              <a:t>9/20/26</a:t>
            </a:fld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8EA9CC9C-E71E-C316-0680-F4BD6EDC87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4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9753" cy="898525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E15E62-FEF2-298A-EC8D-72D59188CB27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05000"/>
            <a:ext cx="109728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2286012"/>
            <a:ext cx="5479474" cy="298765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892D5B-0772-8929-54F9-AA16EED38E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5575" y="2285301"/>
            <a:ext cx="4863778" cy="388618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>
            <a:noAutofit/>
          </a:bodyPr>
          <a:lstStyle/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>
            <a:noAutofit/>
          </a:bodyPr>
          <a:lstStyle/>
          <a:p>
            <a:fld id="{595CD5CC-4A00-4D28-83B4-F3F2A23123B8}" type="datetime1">
              <a:rPr lang="en-US" smtClean="0"/>
              <a:t>9/20/26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2421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903" y="685807"/>
            <a:ext cx="5486400" cy="138830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F8ACB4F-E132-97B5-797E-ADFB9AC834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658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89903" y="2650330"/>
            <a:ext cx="5486400" cy="352185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415657-C9CC-A8DC-C841-09A42AC901EC}"/>
              </a:ext>
            </a:extLst>
          </p:cNvPr>
          <p:cNvCxnSpPr>
            <a:cxnSpLocks/>
          </p:cNvCxnSpPr>
          <p:nvPr userDrawn="1"/>
        </p:nvCxnSpPr>
        <p:spPr>
          <a:xfrm>
            <a:off x="6089903" y="236221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65827FC-FBF0-2A7B-2AE9-11D916DB97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7D3F37AD-0904-9EC0-EFEE-899B457A453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5A8039BA-3C75-4618-B997-02D66D8586A4}" type="datetime1">
              <a:rPr lang="en-US" smtClean="0"/>
              <a:t>9/20/26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55EC9E8-1A84-6C33-ADB3-D40020F509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829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InspiraSTEM 2026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8F010729-9569-4BCC-BA95-64D9BD5D6003}" type="datetime1">
              <a:rPr lang="en-US" smtClean="0"/>
              <a:t>9/20/26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622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89110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C4665C-5805-BDA9-0EA4-387D86C88A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7" y="2057400"/>
            <a:ext cx="2740153" cy="40915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1" y="2057400"/>
            <a:ext cx="7766302" cy="409150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InspiraSTEM 2026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D27EA42-A686-45A5-AF28-A9A65D1B7CD0}" type="datetime1">
              <a:rPr lang="en-US" smtClean="0"/>
              <a:t>9/20/26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1948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DA757D-A9AE-985A-6EEE-C02E46D45DC9}"/>
              </a:ext>
            </a:extLst>
          </p:cNvPr>
          <p:cNvSpPr/>
          <p:nvPr/>
        </p:nvSpPr>
        <p:spPr>
          <a:xfrm>
            <a:off x="11250895" y="43434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1E517F-7D77-FEA1-94A2-D8522A1BF181}"/>
              </a:ext>
            </a:extLst>
          </p:cNvPr>
          <p:cNvSpPr/>
          <p:nvPr/>
        </p:nvSpPr>
        <p:spPr>
          <a:xfrm>
            <a:off x="685800" y="46938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2EAE4C-19D0-A0E4-1FDC-967BD2694E6F}"/>
              </a:ext>
            </a:extLst>
          </p:cNvPr>
          <p:cNvSpPr/>
          <p:nvPr/>
        </p:nvSpPr>
        <p:spPr>
          <a:xfrm>
            <a:off x="10998565" y="44258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E35C93-E0FF-6186-7502-985D78DA9B28}"/>
              </a:ext>
            </a:extLst>
          </p:cNvPr>
          <p:cNvSpPr/>
          <p:nvPr/>
        </p:nvSpPr>
        <p:spPr>
          <a:xfrm>
            <a:off x="10976145" y="44258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4E889F8-D8CB-1564-17A8-26A2F425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02546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3B51AE5-91E2-069A-7DF2-EB394DA25E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InspiraSTEM 2026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EBB8B5-730B-460E-BA44-03132175559A}" type="datetime1">
              <a:rPr lang="en-US" smtClean="0"/>
              <a:t>9/20/26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20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E73F6F-B481-328B-CE64-8485DC66B8EA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7D968F-BFC6-694E-9A7C-A113E7DEBF65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7A14AD-A403-0816-9FED-F4E7BB405B17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5DE6E3-5C5B-04A2-6D84-63D852F6062A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D258FD5-5B6B-DBB1-0F00-D02C7119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59867"/>
            <a:ext cx="9144000" cy="10972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96BB08E-5668-89FF-C0AE-D8A83C783F7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600199"/>
            <a:ext cx="9171115" cy="3259668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InspiraSTEM 2026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F1E1193-774B-469D-864C-185CEC0EFAE5}" type="datetime1">
              <a:rPr lang="en-US" smtClean="0"/>
              <a:t>9/20/26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4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32C402C-8B4C-3690-6875-FE157681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25780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C80DC0CF-9044-3D55-7D8F-4CD97232E3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InspiraSTEM 2026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20E4E8EC-2A9C-4605-821D-8DBAECA8A8B0}" type="datetime1">
              <a:rPr lang="en-US" smtClean="0"/>
              <a:t>9/20/26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480B90-B64C-0559-ACB2-7DBB57135C77}"/>
              </a:ext>
            </a:extLst>
          </p:cNvPr>
          <p:cNvSpPr/>
          <p:nvPr/>
        </p:nvSpPr>
        <p:spPr>
          <a:xfrm>
            <a:off x="11250895" y="456206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D2E866D-D29F-1CC5-14B2-BB24F10745FE}"/>
              </a:ext>
            </a:extLst>
          </p:cNvPr>
          <p:cNvSpPr/>
          <p:nvPr/>
        </p:nvSpPr>
        <p:spPr>
          <a:xfrm>
            <a:off x="685800" y="491255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A0DC7F-E416-CA3E-E389-945D5FA32CC9}"/>
              </a:ext>
            </a:extLst>
          </p:cNvPr>
          <p:cNvSpPr/>
          <p:nvPr/>
        </p:nvSpPr>
        <p:spPr>
          <a:xfrm>
            <a:off x="10998565" y="464449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D9CC5C-2252-AB09-49B5-FD1BE0E74E30}"/>
              </a:ext>
            </a:extLst>
          </p:cNvPr>
          <p:cNvSpPr/>
          <p:nvPr/>
        </p:nvSpPr>
        <p:spPr>
          <a:xfrm>
            <a:off x="10976145" y="464449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05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979D7E7-81D7-BD45-ADEC-E83F7EF73EC8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6D6EAAA-843B-4F5B-47BF-3A0B75B59A45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5A4CCB8-341A-D7B3-2B2F-C6943129C281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A1B2662-9528-65C6-986B-EA4135BF4CA6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600" y="685800"/>
            <a:ext cx="10972800" cy="4514529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InspiraSTEM 2026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46F9C198-7AE4-4F70-AC2C-3DB14520373C}" type="datetime1">
              <a:rPr lang="en-US" smtClean="0"/>
              <a:t>9/20/26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112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0572EAA-9C03-6737-7961-89F7D9E127AC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D2A1F66-1FB1-8357-178D-CB1C0F8B7E56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D8E75-63C0-8CE8-7E5A-37E4E429140F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DF1B2A2-FEB2-CC42-0F0F-71CD13535424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85800"/>
            <a:ext cx="10972800" cy="4572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InspiraSTEM 2026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4ADC42D8-3B39-489F-839A-17611120488C}" type="datetime1">
              <a:rPr lang="en-US" smtClean="0"/>
              <a:t>9/20/26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5516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2479" y="685800"/>
            <a:ext cx="9140953" cy="2699775"/>
          </a:xfrm>
        </p:spPr>
        <p:txBody>
          <a:bodyPr anchor="t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InspiraSTEM 2026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2DF06D-1997-4801-9B88-7726F795FD79}" type="datetime1">
              <a:rPr lang="en-US" smtClean="0"/>
              <a:t>9/20/26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594965-EF4A-40C0-FED1-CF5564CED970}"/>
              </a:ext>
            </a:extLst>
          </p:cNvPr>
          <p:cNvSpPr/>
          <p:nvPr/>
        </p:nvSpPr>
        <p:spPr>
          <a:xfrm>
            <a:off x="11250895" y="456206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DE90F9-432C-AEEC-88D5-177A0E299391}"/>
              </a:ext>
            </a:extLst>
          </p:cNvPr>
          <p:cNvSpPr/>
          <p:nvPr/>
        </p:nvSpPr>
        <p:spPr>
          <a:xfrm>
            <a:off x="685800" y="491255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ECD3CD-C697-A46B-71F2-D64BD77C395C}"/>
              </a:ext>
            </a:extLst>
          </p:cNvPr>
          <p:cNvSpPr/>
          <p:nvPr/>
        </p:nvSpPr>
        <p:spPr>
          <a:xfrm>
            <a:off x="10998565" y="464449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46793A7-6512-567E-DAFF-BB4A63B89DC3}"/>
              </a:ext>
            </a:extLst>
          </p:cNvPr>
          <p:cNvSpPr/>
          <p:nvPr/>
        </p:nvSpPr>
        <p:spPr>
          <a:xfrm>
            <a:off x="10976145" y="464449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6A0D5A-6B2D-15B8-4FC0-30535DF01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17991821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D86F34B-87C2-AC58-5483-78C0E5DB477C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6B59A7-7C3C-7431-CC9A-51EFBA257959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2D0661-BB9A-E751-A4EB-2C95BF96A560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09A5AB9-86E5-2BD1-8EFC-49C204619282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10055353" cy="3657601"/>
          </a:xfrm>
        </p:spPr>
        <p:txBody>
          <a:bodyPr anchor="b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InspiraSTEM 2026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7CA3387-2F47-4E10-875A-30F0CB9BAFB6}" type="datetime1">
              <a:rPr lang="en-US" smtClean="0"/>
              <a:t>9/20/26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A4A8879E-F637-BA38-C325-517B59E12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160219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ED10B2-4172-93C9-B408-242DDBA504A8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F4AA95-C597-81F0-35EA-96B5BA7A12BB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37871-D86F-9BA6-1D96-9B3392C2F247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203EFA-FE43-9B63-5768-4A3FD1509639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868680"/>
            <a:ext cx="9140952" cy="3660746"/>
          </a:xfrm>
        </p:spPr>
        <p:txBody>
          <a:bodyPr anchor="ctr">
            <a:no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InspiraSTEM 2026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2B2901A-0F4A-4593-B4AB-ECAEA3E52340}" type="datetime1">
              <a:rPr lang="en-US" smtClean="0"/>
              <a:t>9/20/26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259B8E5-883A-B6CE-4C6C-F6F48B038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617720"/>
            <a:ext cx="9140951" cy="7886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2918804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965960"/>
            <a:ext cx="5074920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70969" y="1965960"/>
            <a:ext cx="5075237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InspiraSTEM 2026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7DC92FC0-6BB4-4429-A405-7158E0DB56FE}" type="datetime1">
              <a:rPr lang="en-US" smtClean="0"/>
              <a:t>9/20/26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24391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A77448-F1DA-CAC1-9B05-8F5CE65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878566"/>
            <a:ext cx="5074920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572" y="1878566"/>
            <a:ext cx="5075556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14600"/>
            <a:ext cx="5075238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97572" y="2514600"/>
            <a:ext cx="5075556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InspiraSTEM 2026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FC58507-C109-472E-B16B-67DD91B4ED1A}" type="datetime1">
              <a:rPr lang="en-US" smtClean="0"/>
              <a:t>9/20/26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5362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5184-1DAA-DFF4-A408-3D5DD151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InspiraSTEM 2026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E4D97B1D-D35A-475A-8EDC-9E7F2D918F40}" type="datetime1">
              <a:rPr lang="en-US" smtClean="0"/>
              <a:t>9/20/26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5250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InspiraSTEM 2026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ED768F6-FB0A-4303-8421-8700A9DEBB71}" type="datetime1">
              <a:rPr lang="en-US" smtClean="0"/>
              <a:t>9/20/26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9015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A9EA653-B766-E096-036C-1C173E29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845593-CC30-27D6-3F82-E2BA784C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1" y="685800"/>
            <a:ext cx="6699502" cy="54864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InspiraSTEM 2026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82D3FB6-7E9D-4256-8D31-00BFBB8DCD1A}" type="datetime1">
              <a:rPr lang="en-US" smtClean="0"/>
              <a:t>9/20/26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5434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2039" y="685800"/>
            <a:ext cx="6699502" cy="544263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InspiraSTEM 2026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7D408E8-C1B2-4341-B9C3-278DE31F8035}" type="datetime1">
              <a:rPr lang="en-US" smtClean="0"/>
              <a:t>9/20/26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8313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72800" cy="1828800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429000"/>
            <a:ext cx="10972800" cy="274319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07EC6D5-3C89-D412-4A74-4DD843571D29}"/>
              </a:ext>
            </a:extLst>
          </p:cNvPr>
          <p:cNvCxnSpPr/>
          <p:nvPr userDrawn="1"/>
        </p:nvCxnSpPr>
        <p:spPr>
          <a:xfrm>
            <a:off x="621792" y="2895600"/>
            <a:ext cx="10963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InspiraSTEM 2026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8CB1180A-E2AC-4574-9715-A7F3D1E99C18}" type="datetime1">
              <a:rPr lang="en-US" smtClean="0"/>
              <a:t>9/20/26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120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AB975A1-C2E9-D1D4-3C6F-7296B13798B1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243F218-F67B-B464-9035-A6AA389E6224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1F0E05A-E796-C1AE-DCB2-706459874FC1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C863187-9C01-45D7-5737-0DEACAA80C83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8226424" cy="3725056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7" y="4572000"/>
            <a:ext cx="8226424" cy="1608008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800"/>
            </a:lvl2pPr>
            <a:lvl3pPr marL="457200" indent="0">
              <a:buNone/>
              <a:defRPr sz="1800"/>
            </a:lvl3pPr>
            <a:lvl4pPr marL="685800" indent="0">
              <a:buNone/>
              <a:defRPr sz="1800"/>
            </a:lvl4pPr>
            <a:lvl5pPr marL="91440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InspiraSTEM 2026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B4A4791F-41EB-4FE7-AAC7-0A7EEDE403C2}" type="datetime1">
              <a:rPr lang="en-US" smtClean="0"/>
              <a:t>9/20/26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5364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9"/>
            <a:ext cx="10963655" cy="9144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600200"/>
            <a:ext cx="10963656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InspiraSTEM 2026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F4071905-686E-4E27-9996-F57E08427CAA}" type="datetime1">
              <a:rPr lang="en-US" smtClean="0"/>
              <a:t>9/20/26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49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9" r:id="rId1"/>
    <p:sldLayoutId id="2147484115" r:id="rId2"/>
    <p:sldLayoutId id="2147484114" r:id="rId3"/>
    <p:sldLayoutId id="2147484116" r:id="rId4"/>
    <p:sldLayoutId id="2147484117" r:id="rId5"/>
    <p:sldLayoutId id="2147484118" r:id="rId6"/>
    <p:sldLayoutId id="2147484120" r:id="rId7"/>
    <p:sldLayoutId id="2147484121" r:id="rId8"/>
    <p:sldLayoutId id="2147484122" r:id="rId9"/>
    <p:sldLayoutId id="2147484169" r:id="rId10"/>
    <p:sldLayoutId id="2147484124" r:id="rId11"/>
    <p:sldLayoutId id="2147484125" r:id="rId12"/>
    <p:sldLayoutId id="2147484126" r:id="rId13"/>
    <p:sldLayoutId id="2147484127" r:id="rId14"/>
    <p:sldLayoutId id="2147484128" r:id="rId15"/>
    <p:sldLayoutId id="2147484129" r:id="rId16"/>
    <p:sldLayoutId id="2147484130" r:id="rId17"/>
    <p:sldLayoutId id="2147484131" r:id="rId18"/>
    <p:sldLayoutId id="2147484132" r:id="rId19"/>
    <p:sldLayoutId id="2147484133" r:id="rId20"/>
    <p:sldLayoutId id="2147484134" r:id="rId21"/>
    <p:sldLayoutId id="2147484135" r:id="rId22"/>
    <p:sldLayoutId id="2147484136" r:id="rId23"/>
    <p:sldLayoutId id="2147484137" r:id="rId24"/>
    <p:sldLayoutId id="2147484138" r:id="rId25"/>
    <p:sldLayoutId id="2147484139" r:id="rId26"/>
    <p:sldLayoutId id="2147484140" r:id="rId27"/>
    <p:sldLayoutId id="2147484141" r:id="rId28"/>
    <p:sldLayoutId id="2147484142" r:id="rId29"/>
    <p:sldLayoutId id="2147484143" r:id="rId30"/>
    <p:sldLayoutId id="2147484144" r:id="rId31"/>
    <p:sldLayoutId id="2147484145" r:id="rId32"/>
    <p:sldLayoutId id="2147484146" r:id="rId33"/>
    <p:sldLayoutId id="2147484147" r:id="rId34"/>
    <p:sldLayoutId id="2147484148" r:id="rId35"/>
    <p:sldLayoutId id="2147484149" r:id="rId36"/>
    <p:sldLayoutId id="2147484150" r:id="rId37"/>
    <p:sldLayoutId id="2147484152" r:id="rId38"/>
    <p:sldLayoutId id="2147484153" r:id="rId39"/>
    <p:sldLayoutId id="2147484157" r:id="rId40"/>
    <p:sldLayoutId id="2147484158" r:id="rId41"/>
    <p:sldLayoutId id="2147484159" r:id="rId42"/>
    <p:sldLayoutId id="2147484160" r:id="rId43"/>
    <p:sldLayoutId id="2147484161" r:id="rId44"/>
    <p:sldLayoutId id="2147484162" r:id="rId45"/>
    <p:sldLayoutId id="2147484163" r:id="rId46"/>
    <p:sldLayoutId id="2147484164" r:id="rId47"/>
    <p:sldLayoutId id="2147484165" r:id="rId48"/>
    <p:sldLayoutId id="2147484166" r:id="rId49"/>
    <p:sldLayoutId id="2147484167" r:id="rId50"/>
    <p:sldLayoutId id="2147484168" r:id="rId51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400" b="0" i="0" kern="1200" cap="all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600" b="0" i="0" kern="1200">
          <a:solidFill>
            <a:schemeClr val="tx2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7" orient="horz" pos="2160">
          <p15:clr>
            <a:srgbClr val="F26B43"/>
          </p15:clr>
        </p15:guide>
        <p15:guide id="28" pos="3840">
          <p15:clr>
            <a:srgbClr val="F26B43"/>
          </p15:clr>
        </p15:guide>
        <p15:guide id="29" pos="7296">
          <p15:clr>
            <a:srgbClr val="F26B43"/>
          </p15:clr>
        </p15:guide>
        <p15:guide id="3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jpg"/><Relationship Id="rId7" Type="http://schemas.openxmlformats.org/officeDocument/2006/relationships/image" Target="../media/image1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g"/><Relationship Id="rId3" Type="http://schemas.openxmlformats.org/officeDocument/2006/relationships/image" Target="../media/image13.jpe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gif"/><Relationship Id="rId5" Type="http://schemas.openxmlformats.org/officeDocument/2006/relationships/image" Target="../media/image15.jpg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3" Type="http://schemas.openxmlformats.org/officeDocument/2006/relationships/image" Target="../media/image19.png"/><Relationship Id="rId7" Type="http://schemas.openxmlformats.org/officeDocument/2006/relationships/image" Target="../media/image2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jpeg"/><Relationship Id="rId5" Type="http://schemas.openxmlformats.org/officeDocument/2006/relationships/image" Target="../media/image21.png"/><Relationship Id="rId10" Type="http://schemas.openxmlformats.org/officeDocument/2006/relationships/image" Target="../media/image26.jpeg"/><Relationship Id="rId4" Type="http://schemas.openxmlformats.org/officeDocument/2006/relationships/image" Target="../media/image20.png"/><Relationship Id="rId9" Type="http://schemas.openxmlformats.org/officeDocument/2006/relationships/image" Target="../media/image2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xs0vuGPPRaQ?feature=oembed" TargetMode="External"/><Relationship Id="rId4" Type="http://schemas.openxmlformats.org/officeDocument/2006/relationships/image" Target="../media/image3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svg"/><Relationship Id="rId3" Type="http://schemas.openxmlformats.org/officeDocument/2006/relationships/image" Target="../media/image47.jpg"/><Relationship Id="rId7" Type="http://schemas.openxmlformats.org/officeDocument/2006/relationships/image" Target="../media/image5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jpg"/><Relationship Id="rId5" Type="http://schemas.openxmlformats.org/officeDocument/2006/relationships/image" Target="../media/image49.jpg"/><Relationship Id="rId10" Type="http://schemas.openxmlformats.org/officeDocument/2006/relationships/image" Target="../media/image54.jpg"/><Relationship Id="rId4" Type="http://schemas.openxmlformats.org/officeDocument/2006/relationships/image" Target="../media/image48.png"/><Relationship Id="rId9" Type="http://schemas.openxmlformats.org/officeDocument/2006/relationships/image" Target="../media/image53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jpg"/><Relationship Id="rId3" Type="http://schemas.openxmlformats.org/officeDocument/2006/relationships/image" Target="../media/image47.jp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jpg"/><Relationship Id="rId5" Type="http://schemas.openxmlformats.org/officeDocument/2006/relationships/image" Target="../media/image49.jpg"/><Relationship Id="rId10" Type="http://schemas.openxmlformats.org/officeDocument/2006/relationships/image" Target="../media/image53.svg"/><Relationship Id="rId4" Type="http://schemas.openxmlformats.org/officeDocument/2006/relationships/image" Target="../media/image48.png"/><Relationship Id="rId9" Type="http://schemas.openxmlformats.org/officeDocument/2006/relationships/image" Target="../media/image52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s-astro/inspirastem-ppd-CO/tree/main/01_intro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lab.research.google.com/github/mas-astro/inspirastem-ppd-CO/blob/main/01_intro/dia_1_actividad1.ipynb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FF4B6-3F85-6E67-ED81-212443682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220D21D-E70A-8481-5F47-EA59DBCABB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8124825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A0CBC46-76F5-CB3F-9BF0-DE7BBD3C66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" y="228600"/>
            <a:ext cx="11963400" cy="2180594"/>
          </a:xfrm>
        </p:spPr>
        <p:txBody>
          <a:bodyPr>
            <a:noAutofit/>
          </a:bodyPr>
          <a:lstStyle/>
          <a:p>
            <a:r>
              <a:rPr lang="es-ES_tradnl" sz="6000" noProof="0" dirty="0"/>
              <a:t>Planetas en Construcción</a:t>
            </a:r>
            <a:r>
              <a:rPr lang="es-ES_tradnl" sz="6600" noProof="0" dirty="0"/>
              <a:t>:</a:t>
            </a:r>
            <a:br>
              <a:rPr lang="es-ES_tradnl" sz="6600" noProof="0" dirty="0"/>
            </a:br>
            <a:r>
              <a:rPr lang="es-ES_tradnl" sz="4800" noProof="0" dirty="0"/>
              <a:t>Un Viaje a Través de </a:t>
            </a:r>
            <a:br>
              <a:rPr lang="es-ES_tradnl" sz="4800" noProof="0" dirty="0"/>
            </a:br>
            <a:r>
              <a:rPr lang="es-ES_tradnl" sz="4800" noProof="0" dirty="0" err="1"/>
              <a:t>Espectra</a:t>
            </a:r>
            <a:r>
              <a:rPr lang="es-ES_tradnl" sz="4800" noProof="0" dirty="0"/>
              <a:t> molecular</a:t>
            </a:r>
            <a:br>
              <a:rPr lang="es-ES_tradnl" sz="4800" noProof="0" dirty="0"/>
            </a:br>
            <a:r>
              <a:rPr lang="es-ES_tradnl" sz="4800" noProof="0" dirty="0"/>
              <a:t>Dia 1</a:t>
            </a:r>
            <a:endParaRPr lang="es-ES_tradnl" sz="4200" noProof="0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CA5C5AD-7278-E875-15B7-835123AC22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5029200"/>
            <a:ext cx="6324602" cy="1600199"/>
          </a:xfrm>
        </p:spPr>
        <p:txBody>
          <a:bodyPr>
            <a:normAutofit/>
          </a:bodyPr>
          <a:lstStyle/>
          <a:p>
            <a:r>
              <a:rPr lang="es-ES_tradnl" sz="2000" noProof="0" dirty="0"/>
              <a:t>Michael Sánchez, </a:t>
            </a:r>
            <a:r>
              <a:rPr lang="es-ES_tradnl" sz="2000" noProof="0" dirty="0" err="1"/>
              <a:t>M.Sc</a:t>
            </a:r>
            <a:r>
              <a:rPr lang="es-ES_tradnl" sz="2000" noProof="0" dirty="0"/>
              <a:t>.</a:t>
            </a:r>
          </a:p>
          <a:p>
            <a:r>
              <a:rPr lang="es-ES_tradnl" sz="2000" noProof="0" dirty="0"/>
              <a:t>Analista de Datos </a:t>
            </a:r>
          </a:p>
          <a:p>
            <a:r>
              <a:rPr lang="es-ES_tradnl" sz="2000" noProof="0" dirty="0"/>
              <a:t>Observatorio Nacional de Radio Astronomía (NRAO)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ABDFD1-3BCA-CBED-54C1-D2A4EA7CBE80}"/>
              </a:ext>
            </a:extLst>
          </p:cNvPr>
          <p:cNvSpPr txBox="1"/>
          <p:nvPr/>
        </p:nvSpPr>
        <p:spPr>
          <a:xfrm>
            <a:off x="5300870" y="5506133"/>
            <a:ext cx="65081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_tradnl" sz="2000" noProof="0" dirty="0">
                <a:solidFill>
                  <a:schemeClr val="bg1"/>
                </a:solidFill>
              </a:rPr>
              <a:t>19 Septiembre 2026</a:t>
            </a:r>
          </a:p>
          <a:p>
            <a:pPr algn="r"/>
            <a:r>
              <a:rPr lang="es-ES_tradnl" sz="2000" noProof="0" dirty="0">
                <a:solidFill>
                  <a:schemeClr val="bg1"/>
                </a:solidFill>
              </a:rPr>
              <a:t>InspiraSTEM </a:t>
            </a:r>
          </a:p>
        </p:txBody>
      </p:sp>
      <p:pic>
        <p:nvPicPr>
          <p:cNvPr id="10" name="Picture 2" descr="Carbon monoxide poisoning - Wikipedia">
            <a:extLst>
              <a:ext uri="{FF2B5EF4-FFF2-40B4-BE49-F238E27FC236}">
                <a16:creationId xmlns:a16="http://schemas.microsoft.com/office/drawing/2014/main" id="{B77F8338-1EDB-2933-C736-F4E1B397CB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777563">
            <a:off x="6673385" y="3265302"/>
            <a:ext cx="233533" cy="118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Carbon monoxide poisoning - Wikipedia">
            <a:extLst>
              <a:ext uri="{FF2B5EF4-FFF2-40B4-BE49-F238E27FC236}">
                <a16:creationId xmlns:a16="http://schemas.microsoft.com/office/drawing/2014/main" id="{D72E511A-3C26-AEE0-E5A1-ED46F87C26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58419">
            <a:off x="6848825" y="4005521"/>
            <a:ext cx="426998" cy="216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Carbon monoxide poisoning - Wikipedia">
            <a:extLst>
              <a:ext uri="{FF2B5EF4-FFF2-40B4-BE49-F238E27FC236}">
                <a16:creationId xmlns:a16="http://schemas.microsoft.com/office/drawing/2014/main" id="{261B652E-8304-D5F5-6CD4-13B67C6C0A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7023696" y="3633587"/>
            <a:ext cx="270452" cy="136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Carbon monoxide poisoning - Wikipedia">
            <a:extLst>
              <a:ext uri="{FF2B5EF4-FFF2-40B4-BE49-F238E27FC236}">
                <a16:creationId xmlns:a16="http://schemas.microsoft.com/office/drawing/2014/main" id="{22F22052-D672-7213-4B6C-85DE74B0C1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474327">
            <a:off x="5955370" y="3885425"/>
            <a:ext cx="457200" cy="231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Carbon monoxide poisoning - Wikipedia">
            <a:extLst>
              <a:ext uri="{FF2B5EF4-FFF2-40B4-BE49-F238E27FC236}">
                <a16:creationId xmlns:a16="http://schemas.microsoft.com/office/drawing/2014/main" id="{F6DB138D-1220-9951-BE42-627CDE901B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776629">
            <a:off x="5362292" y="3357813"/>
            <a:ext cx="414319" cy="209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Carbon monoxide poisoning - Wikipedia">
            <a:extLst>
              <a:ext uri="{FF2B5EF4-FFF2-40B4-BE49-F238E27FC236}">
                <a16:creationId xmlns:a16="http://schemas.microsoft.com/office/drawing/2014/main" id="{6759FE15-6FA7-979E-4C4C-AA8B776499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31299">
            <a:off x="5928269" y="3219813"/>
            <a:ext cx="346250" cy="175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BA15950-5EA7-BE7A-856D-D5E0AA531999}"/>
              </a:ext>
            </a:extLst>
          </p:cNvPr>
          <p:cNvSpPr txBox="1"/>
          <p:nvPr/>
        </p:nvSpPr>
        <p:spPr>
          <a:xfrm>
            <a:off x="9616848" y="6581001"/>
            <a:ext cx="25673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100" noProof="0" dirty="0" err="1"/>
              <a:t>Credito</a:t>
            </a:r>
            <a:r>
              <a:rPr lang="es-ES_tradnl" sz="1100" noProof="0" dirty="0"/>
              <a:t> de imagen: ESO/L. Calçada</a:t>
            </a:r>
          </a:p>
        </p:txBody>
      </p:sp>
      <p:pic>
        <p:nvPicPr>
          <p:cNvPr id="19" name="Graphic 18" descr="Whole pizza outline">
            <a:extLst>
              <a:ext uri="{FF2B5EF4-FFF2-40B4-BE49-F238E27FC236}">
                <a16:creationId xmlns:a16="http://schemas.microsoft.com/office/drawing/2014/main" id="{7E0A97A1-0D3C-6203-1ABB-CF62A80997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10475" y="2824387"/>
            <a:ext cx="1646394" cy="1646394"/>
          </a:xfrm>
          <a:prstGeom prst="rect">
            <a:avLst/>
          </a:prstGeom>
        </p:spPr>
      </p:pic>
      <p:pic>
        <p:nvPicPr>
          <p:cNvPr id="24" name="Graphic 23" descr="Donut outline">
            <a:extLst>
              <a:ext uri="{FF2B5EF4-FFF2-40B4-BE49-F238E27FC236}">
                <a16:creationId xmlns:a16="http://schemas.microsoft.com/office/drawing/2014/main" id="{1E0AD73E-7529-98E5-1BAC-9B7D6DCC6C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33113" y="3256412"/>
            <a:ext cx="731427" cy="73142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B79D602-A469-469C-3734-2BDCC06B214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036"/>
          <a:stretch>
            <a:fillRect/>
          </a:stretch>
        </p:blipFill>
        <p:spPr>
          <a:xfrm>
            <a:off x="7572997" y="1391833"/>
            <a:ext cx="2370466" cy="1618938"/>
          </a:xfrm>
          <a:prstGeom prst="rect">
            <a:avLst/>
          </a:prstGeom>
        </p:spPr>
      </p:pic>
      <p:pic>
        <p:nvPicPr>
          <p:cNvPr id="30" name="Graphic 29" descr="Solar system with solid fill">
            <a:extLst>
              <a:ext uri="{FF2B5EF4-FFF2-40B4-BE49-F238E27FC236}">
                <a16:creationId xmlns:a16="http://schemas.microsoft.com/office/drawing/2014/main" id="{F171F73B-0CF4-0031-30D1-C1E038BA59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58031" y="951634"/>
            <a:ext cx="1509345" cy="150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452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520D4-9655-EA5E-28A1-2D163A8EB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81019"/>
            <a:ext cx="10963655" cy="762001"/>
          </a:xfrm>
        </p:spPr>
        <p:txBody>
          <a:bodyPr/>
          <a:lstStyle/>
          <a:p>
            <a:r>
              <a:rPr lang="es-ES_tradnl" noProof="0" dirty="0"/>
              <a:t>Introducciones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B1E0F-4F82-1B5F-AC87-A20BB15DD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239" y="1162371"/>
            <a:ext cx="5105400" cy="1325563"/>
          </a:xfrm>
        </p:spPr>
        <p:txBody>
          <a:bodyPr/>
          <a:lstStyle/>
          <a:p>
            <a:r>
              <a:rPr lang="es-ES_tradnl" sz="2000" noProof="0" dirty="0"/>
              <a:t>Analista de Datos Científicos en el Observatorio Nacional de Radio Astronomía (NRAO) en Charlottesville, VA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4F66FE-222A-ECB2-5BAF-DF38D7972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 noProof="0" dirty="0"/>
              <a:t>InspiraSTEM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F303CE-33E8-5255-CDD3-B50198D00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s-ES_tradnl" noProof="0" smtClean="0"/>
              <a:t>2</a:t>
            </a:fld>
            <a:endParaRPr lang="es-ES_tradnl" noProof="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FFF80C1-81EB-CF08-EA6C-08DC4F3603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55" r="26667"/>
          <a:stretch>
            <a:fillRect/>
          </a:stretch>
        </p:blipFill>
        <p:spPr>
          <a:xfrm rot="5400000">
            <a:off x="1596235" y="1702994"/>
            <a:ext cx="3456500" cy="5425900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E5B1309-C876-5A04-F226-C1E71E6BAC4F}"/>
              </a:ext>
            </a:extLst>
          </p:cNvPr>
          <p:cNvSpPr txBox="1">
            <a:spLocks/>
          </p:cNvSpPr>
          <p:nvPr/>
        </p:nvSpPr>
        <p:spPr>
          <a:xfrm>
            <a:off x="6553200" y="1143757"/>
            <a:ext cx="5105400" cy="13255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2000" noProof="0" dirty="0"/>
              <a:t>Tesis de Maestría: </a:t>
            </a:r>
            <a:r>
              <a:rPr lang="es-ES_tradnl" sz="2000" i="1" noProof="0" dirty="0"/>
              <a:t>Un Estudio de la Evolución de Discos Protoplanetarios en Emisión Infrarrojo de CO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1628780-65ED-B489-446C-477E15A5C9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2708" y="4437543"/>
            <a:ext cx="1838723" cy="180194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BDE6925-2E63-BEB7-312C-BAEE802577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238"/>
          <a:stretch>
            <a:fillRect/>
          </a:stretch>
        </p:blipFill>
        <p:spPr>
          <a:xfrm>
            <a:off x="151288" y="2870495"/>
            <a:ext cx="2151004" cy="29718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F2A2CC1-2824-F700-4C9E-4219F7C663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8588" y="3455421"/>
            <a:ext cx="2411344" cy="2009454"/>
          </a:xfrm>
          <a:prstGeom prst="rect">
            <a:avLst/>
          </a:prstGeom>
        </p:spPr>
      </p:pic>
      <p:pic>
        <p:nvPicPr>
          <p:cNvPr id="9" name="Content Placeholder 3" descr="Chart, histogram&#10;&#10;Description automatically generated">
            <a:extLst>
              <a:ext uri="{FF2B5EF4-FFF2-40B4-BE49-F238E27FC236}">
                <a16:creationId xmlns:a16="http://schemas.microsoft.com/office/drawing/2014/main" id="{CECE2CCF-0711-FE59-0CEF-7073D2CEA8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7955" y="2487934"/>
            <a:ext cx="4843476" cy="1859549"/>
          </a:xfrm>
          <a:prstGeom prst="rect">
            <a:avLst/>
          </a:prstGeom>
        </p:spPr>
      </p:pic>
      <p:pic>
        <p:nvPicPr>
          <p:cNvPr id="10" name="Picture 9" descr="A screenshot of a computer screen&#10;&#10;Description automatically generated with medium confidence">
            <a:extLst>
              <a:ext uri="{FF2B5EF4-FFF2-40B4-BE49-F238E27FC236}">
                <a16:creationId xmlns:a16="http://schemas.microsoft.com/office/drawing/2014/main" id="{345442A6-10F3-2172-35F1-418D83D4776E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74501" b="79763"/>
          <a:stretch/>
        </p:blipFill>
        <p:spPr>
          <a:xfrm>
            <a:off x="6937954" y="4313813"/>
            <a:ext cx="1748845" cy="1743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E0765DB-112E-2B94-1D16-056FD37BE4AE}"/>
              </a:ext>
            </a:extLst>
          </p:cNvPr>
          <p:cNvSpPr txBox="1"/>
          <p:nvPr/>
        </p:nvSpPr>
        <p:spPr>
          <a:xfrm>
            <a:off x="7086600" y="5856472"/>
            <a:ext cx="18387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000" i="1" noProof="0" dirty="0">
                <a:solidFill>
                  <a:schemeClr val="bg1"/>
                </a:solidFill>
              </a:rPr>
              <a:t>Andrews et al. (2018)</a:t>
            </a:r>
          </a:p>
        </p:txBody>
      </p:sp>
    </p:spTree>
    <p:extLst>
      <p:ext uri="{BB962C8B-B14F-4D97-AF65-F5344CB8AC3E}">
        <p14:creationId xmlns:p14="http://schemas.microsoft.com/office/powerpoint/2010/main" val="275394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520D4-9655-EA5E-28A1-2D163A8EB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81019"/>
            <a:ext cx="10963655" cy="762001"/>
          </a:xfrm>
        </p:spPr>
        <p:txBody>
          <a:bodyPr/>
          <a:lstStyle/>
          <a:p>
            <a:r>
              <a:rPr lang="es-ES_tradnl" noProof="0" dirty="0"/>
              <a:t>Introducciones (ustedes 🫵)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4F66FE-222A-ECB2-5BAF-DF38D7972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 noProof="0" dirty="0"/>
              <a:t>InspiraSTEM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F303CE-33E8-5255-CDD3-B50198D00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s-ES_tradnl" noProof="0" smtClean="0"/>
              <a:t>3</a:t>
            </a:fld>
            <a:endParaRPr lang="es-ES_tradnl" noProof="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B416916-789D-7059-B6D6-37C3CA5268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7" y="1246099"/>
            <a:ext cx="3352800" cy="2168144"/>
          </a:xfrm>
          <a:prstGeom prst="rect">
            <a:avLst/>
          </a:prstGeom>
        </p:spPr>
      </p:pic>
      <p:pic>
        <p:nvPicPr>
          <p:cNvPr id="14" name="Picture 13" descr="Univeristy - Free buildings icons">
            <a:extLst>
              <a:ext uri="{FF2B5EF4-FFF2-40B4-BE49-F238E27FC236}">
                <a16:creationId xmlns:a16="http://schemas.microsoft.com/office/drawing/2014/main" id="{5D305C2F-B61B-664A-7161-0562C5EC75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8660" y="1333031"/>
            <a:ext cx="2418815" cy="2418815"/>
          </a:xfrm>
          <a:prstGeom prst="rect">
            <a:avLst/>
          </a:prstGeom>
        </p:spPr>
      </p:pic>
      <p:pic>
        <p:nvPicPr>
          <p:cNvPr id="23" name="Picture 22" descr="Mars - Wikipedia">
            <a:extLst>
              <a:ext uri="{FF2B5EF4-FFF2-40B4-BE49-F238E27FC236}">
                <a16:creationId xmlns:a16="http://schemas.microsoft.com/office/drawing/2014/main" id="{0289826C-2B63-8FEA-2F2C-85D9E09D84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9813" y="2436097"/>
            <a:ext cx="1796316" cy="1796316"/>
          </a:xfrm>
          <a:prstGeom prst="rect">
            <a:avLst/>
          </a:prstGeom>
        </p:spPr>
      </p:pic>
      <p:pic>
        <p:nvPicPr>
          <p:cNvPr id="24" name="Picture 23" descr="Saturn (NIRCam) - NASA Science">
            <a:extLst>
              <a:ext uri="{FF2B5EF4-FFF2-40B4-BE49-F238E27FC236}">
                <a16:creationId xmlns:a16="http://schemas.microsoft.com/office/drawing/2014/main" id="{24693B6A-F9AC-BCCA-3FD6-4A392FBE34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046" y="3865829"/>
            <a:ext cx="3907488" cy="2197018"/>
          </a:xfrm>
          <a:prstGeom prst="rect">
            <a:avLst/>
          </a:prstGeom>
        </p:spPr>
      </p:pic>
      <p:pic>
        <p:nvPicPr>
          <p:cNvPr id="27" name="Picture 26" descr="NASA's Juno Mission Shows Jupiter's Auroras Defy the Laws of Earthly  Physics | WIRED">
            <a:extLst>
              <a:ext uri="{FF2B5EF4-FFF2-40B4-BE49-F238E27FC236}">
                <a16:creationId xmlns:a16="http://schemas.microsoft.com/office/drawing/2014/main" id="{423D7EF0-9A8D-558F-A609-F6DEFC85C4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16123" y="4032130"/>
            <a:ext cx="3046076" cy="2030717"/>
          </a:xfrm>
          <a:prstGeom prst="rect">
            <a:avLst/>
          </a:prstGeom>
        </p:spPr>
      </p:pic>
      <p:pic>
        <p:nvPicPr>
          <p:cNvPr id="28" name="Picture 27" descr="Mercury (planet) - Wikipedia">
            <a:extLst>
              <a:ext uri="{FF2B5EF4-FFF2-40B4-BE49-F238E27FC236}">
                <a16:creationId xmlns:a16="http://schemas.microsoft.com/office/drawing/2014/main" id="{38800A14-043B-C557-5CC6-98F62B25680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98744" y="2453617"/>
            <a:ext cx="1597357" cy="1597357"/>
          </a:xfrm>
          <a:prstGeom prst="rect">
            <a:avLst/>
          </a:prstGeom>
        </p:spPr>
      </p:pic>
      <p:pic>
        <p:nvPicPr>
          <p:cNvPr id="29" name="Picture 28" descr="Why explore Venus">
            <a:extLst>
              <a:ext uri="{FF2B5EF4-FFF2-40B4-BE49-F238E27FC236}">
                <a16:creationId xmlns:a16="http://schemas.microsoft.com/office/drawing/2014/main" id="{8A760F2B-53A8-4D65-8F43-76BB62E1D9B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69093" y="4041858"/>
            <a:ext cx="2286812" cy="2286812"/>
          </a:xfrm>
          <a:prstGeom prst="rect">
            <a:avLst/>
          </a:prstGeom>
        </p:spPr>
      </p:pic>
      <p:pic>
        <p:nvPicPr>
          <p:cNvPr id="30" name="Picture 29" descr="What is Uranus Made Of? | Space">
            <a:extLst>
              <a:ext uri="{FF2B5EF4-FFF2-40B4-BE49-F238E27FC236}">
                <a16:creationId xmlns:a16="http://schemas.microsoft.com/office/drawing/2014/main" id="{65282BBF-8D14-D258-78B8-D7BF53D424C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38266" y="4041858"/>
            <a:ext cx="1796316" cy="2535123"/>
          </a:xfrm>
          <a:prstGeom prst="rect">
            <a:avLst/>
          </a:prstGeom>
        </p:spPr>
      </p:pic>
      <p:pic>
        <p:nvPicPr>
          <p:cNvPr id="31" name="Picture 30" descr="Neptune: A guide to the windy eighth planet from the sun | Space">
            <a:extLst>
              <a:ext uri="{FF2B5EF4-FFF2-40B4-BE49-F238E27FC236}">
                <a16:creationId xmlns:a16="http://schemas.microsoft.com/office/drawing/2014/main" id="{5EC10727-04B6-DC57-E626-7C2F18D0242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9591762" y="3471321"/>
            <a:ext cx="3353206" cy="1886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665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1A97E-6717-2E4A-AE5D-2DCC2B4DE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72CF2-2FAC-B7F1-CCBD-46FECA04B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63655" cy="971245"/>
          </a:xfrm>
        </p:spPr>
        <p:txBody>
          <a:bodyPr/>
          <a:lstStyle/>
          <a:p>
            <a:r>
              <a:rPr lang="es-ES_tradnl" noProof="0" dirty="0" err="1"/>
              <a:t>IntroducciOnes</a:t>
            </a:r>
            <a:r>
              <a:rPr lang="es-ES_tradnl" noProof="0" dirty="0"/>
              <a:t> (a Discos protoplanetarios)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4D4BE0-399C-BA49-C138-44E01FD9C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 noProof="0" dirty="0"/>
              <a:t>InspiraSTEM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DB5ACE-2AA5-0B3B-6984-DF46D2ECB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s-ES_tradnl" noProof="0" smtClean="0"/>
              <a:t>4</a:t>
            </a:fld>
            <a:endParaRPr lang="es-ES_tradnl" noProof="0" dirty="0"/>
          </a:p>
        </p:txBody>
      </p:sp>
      <p:pic>
        <p:nvPicPr>
          <p:cNvPr id="6" name="Content Placeholder 8">
            <a:extLst>
              <a:ext uri="{FF2B5EF4-FFF2-40B4-BE49-F238E27FC236}">
                <a16:creationId xmlns:a16="http://schemas.microsoft.com/office/drawing/2014/main" id="{44544E09-66E5-A9D1-EAB7-C7312D5CBB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1634251"/>
            <a:ext cx="4754067" cy="47540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62BB325-B1A4-9006-C854-1069A02DAC5E}"/>
              </a:ext>
            </a:extLst>
          </p:cNvPr>
          <p:cNvSpPr txBox="1"/>
          <p:nvPr/>
        </p:nvSpPr>
        <p:spPr>
          <a:xfrm>
            <a:off x="4324409" y="3742663"/>
            <a:ext cx="1206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noProof="0" dirty="0">
                <a:solidFill>
                  <a:schemeClr val="bg1"/>
                </a:solidFill>
              </a:rPr>
              <a:t>Clase 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EB0D8A-3C67-366F-4C9A-A43C29FDA923}"/>
              </a:ext>
            </a:extLst>
          </p:cNvPr>
          <p:cNvSpPr txBox="1"/>
          <p:nvPr/>
        </p:nvSpPr>
        <p:spPr>
          <a:xfrm>
            <a:off x="4517204" y="5706876"/>
            <a:ext cx="1206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noProof="0" dirty="0">
                <a:solidFill>
                  <a:schemeClr val="bg1"/>
                </a:solidFill>
              </a:rPr>
              <a:t>Clase II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44DA7E-D77D-EDAD-0BE5-CD894434E70A}"/>
              </a:ext>
            </a:extLst>
          </p:cNvPr>
          <p:cNvSpPr txBox="1"/>
          <p:nvPr/>
        </p:nvSpPr>
        <p:spPr>
          <a:xfrm>
            <a:off x="3450259" y="2210683"/>
            <a:ext cx="1206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noProof="0" dirty="0">
                <a:solidFill>
                  <a:schemeClr val="bg1"/>
                </a:solidFill>
              </a:rPr>
              <a:t>Clase 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D6EA64-E67D-8F01-5A98-47ECB942E142}"/>
              </a:ext>
            </a:extLst>
          </p:cNvPr>
          <p:cNvSpPr txBox="1"/>
          <p:nvPr/>
        </p:nvSpPr>
        <p:spPr>
          <a:xfrm>
            <a:off x="1676400" y="4904803"/>
            <a:ext cx="1206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noProof="0" dirty="0">
                <a:solidFill>
                  <a:schemeClr val="bg1"/>
                </a:solidFill>
              </a:rPr>
              <a:t>Clase III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53096D-38B3-3F61-B575-F07416519FF3}"/>
              </a:ext>
            </a:extLst>
          </p:cNvPr>
          <p:cNvSpPr txBox="1"/>
          <p:nvPr/>
        </p:nvSpPr>
        <p:spPr>
          <a:xfrm>
            <a:off x="1630471" y="6185842"/>
            <a:ext cx="21042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000" i="1" noProof="0" dirty="0">
                <a:solidFill>
                  <a:schemeClr val="bg1"/>
                </a:solidFill>
              </a:rPr>
              <a:t>Credit: NRAO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661A14-4CDA-9DA0-D56C-3E97978A4EA9}"/>
              </a:ext>
            </a:extLst>
          </p:cNvPr>
          <p:cNvSpPr txBox="1"/>
          <p:nvPr/>
        </p:nvSpPr>
        <p:spPr>
          <a:xfrm>
            <a:off x="3116210" y="4904803"/>
            <a:ext cx="342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noProof="0" dirty="0">
                <a:solidFill>
                  <a:schemeClr val="bg1"/>
                </a:solidFill>
              </a:rPr>
              <a:t>?</a:t>
            </a:r>
          </a:p>
        </p:txBody>
      </p:sp>
      <p:pic>
        <p:nvPicPr>
          <p:cNvPr id="16" name="Picture 15" descr="Black body radiation">
            <a:extLst>
              <a:ext uri="{FF2B5EF4-FFF2-40B4-BE49-F238E27FC236}">
                <a16:creationId xmlns:a16="http://schemas.microsoft.com/office/drawing/2014/main" id="{8F2F2E27-0D5C-B9A9-5441-DCED53C4F8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4229" y="1892262"/>
            <a:ext cx="5414083" cy="392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235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0551F-A074-89F2-0C5F-44AD99AF5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39F3E-9FDB-7476-F9B8-C086D93A5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63655" cy="971245"/>
          </a:xfrm>
        </p:spPr>
        <p:txBody>
          <a:bodyPr/>
          <a:lstStyle/>
          <a:p>
            <a:r>
              <a:rPr lang="es-ES_tradnl" noProof="0" dirty="0" err="1"/>
              <a:t>IntroducciOnes</a:t>
            </a:r>
            <a:r>
              <a:rPr lang="es-ES_tradnl" noProof="0" dirty="0"/>
              <a:t> (a Discos protoplanetarios)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A04B47-8642-DC93-8D00-477D327F8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 noProof="0" dirty="0"/>
              <a:t>InspiraSTEM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A7DEE9-3F4D-4D88-D7CF-9444E73D9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s-ES_tradnl" noProof="0" smtClean="0"/>
              <a:t>5</a:t>
            </a:fld>
            <a:endParaRPr lang="es-ES_tradnl" noProof="0" dirty="0"/>
          </a:p>
        </p:txBody>
      </p:sp>
      <p:pic>
        <p:nvPicPr>
          <p:cNvPr id="6" name="Content Placeholder 8">
            <a:extLst>
              <a:ext uri="{FF2B5EF4-FFF2-40B4-BE49-F238E27FC236}">
                <a16:creationId xmlns:a16="http://schemas.microsoft.com/office/drawing/2014/main" id="{F5B3E255-9AFC-BB5A-BC31-F7A881565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1634251"/>
            <a:ext cx="4754067" cy="47540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18B6FBF-A819-B358-2C17-072954590671}"/>
              </a:ext>
            </a:extLst>
          </p:cNvPr>
          <p:cNvSpPr txBox="1"/>
          <p:nvPr/>
        </p:nvSpPr>
        <p:spPr>
          <a:xfrm>
            <a:off x="4324409" y="3742663"/>
            <a:ext cx="1206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noProof="0" dirty="0">
                <a:solidFill>
                  <a:schemeClr val="bg1"/>
                </a:solidFill>
              </a:rPr>
              <a:t>Clase 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33A2A0-04FF-C6F7-EF87-A70B8CF12D10}"/>
              </a:ext>
            </a:extLst>
          </p:cNvPr>
          <p:cNvSpPr txBox="1"/>
          <p:nvPr/>
        </p:nvSpPr>
        <p:spPr>
          <a:xfrm>
            <a:off x="4517204" y="5706876"/>
            <a:ext cx="1206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noProof="0" dirty="0">
                <a:solidFill>
                  <a:schemeClr val="bg1"/>
                </a:solidFill>
              </a:rPr>
              <a:t>Clase II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8D6992-E9E1-4D03-4319-8DAB2F59D12E}"/>
              </a:ext>
            </a:extLst>
          </p:cNvPr>
          <p:cNvSpPr txBox="1"/>
          <p:nvPr/>
        </p:nvSpPr>
        <p:spPr>
          <a:xfrm>
            <a:off x="3450259" y="2210683"/>
            <a:ext cx="1206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noProof="0" dirty="0">
                <a:solidFill>
                  <a:schemeClr val="bg1"/>
                </a:solidFill>
              </a:rPr>
              <a:t>Clase 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73CC59-5E7F-33D9-6702-838A7725781D}"/>
              </a:ext>
            </a:extLst>
          </p:cNvPr>
          <p:cNvSpPr txBox="1"/>
          <p:nvPr/>
        </p:nvSpPr>
        <p:spPr>
          <a:xfrm>
            <a:off x="1676400" y="4904803"/>
            <a:ext cx="1206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noProof="0" dirty="0">
                <a:solidFill>
                  <a:schemeClr val="bg1"/>
                </a:solidFill>
              </a:rPr>
              <a:t>Clase III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76F9CA-4776-670B-ADE5-E86B45B7384B}"/>
              </a:ext>
            </a:extLst>
          </p:cNvPr>
          <p:cNvSpPr txBox="1"/>
          <p:nvPr/>
        </p:nvSpPr>
        <p:spPr>
          <a:xfrm>
            <a:off x="1630471" y="6185842"/>
            <a:ext cx="210422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000" i="1" noProof="0" dirty="0">
                <a:solidFill>
                  <a:schemeClr val="bg1"/>
                </a:solidFill>
              </a:rPr>
              <a:t>Credit: NRAO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24AC31-9FE1-88E9-8785-DC3261C25307}"/>
              </a:ext>
            </a:extLst>
          </p:cNvPr>
          <p:cNvSpPr txBox="1"/>
          <p:nvPr/>
        </p:nvSpPr>
        <p:spPr>
          <a:xfrm>
            <a:off x="3116210" y="4904803"/>
            <a:ext cx="342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noProof="0" dirty="0">
                <a:solidFill>
                  <a:schemeClr val="bg1"/>
                </a:solidFill>
              </a:rPr>
              <a:t>?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B4A765C-C849-E93C-DC1A-AE269B64225A}"/>
              </a:ext>
            </a:extLst>
          </p:cNvPr>
          <p:cNvGrpSpPr/>
          <p:nvPr/>
        </p:nvGrpSpPr>
        <p:grpSpPr>
          <a:xfrm>
            <a:off x="6961903" y="1634251"/>
            <a:ext cx="4073709" cy="4792375"/>
            <a:chOff x="6961903" y="1634251"/>
            <a:chExt cx="4073709" cy="4792375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9440B515-F6BB-8F03-FD44-3D3C83140F4F}"/>
                </a:ext>
              </a:extLst>
            </p:cNvPr>
            <p:cNvCxnSpPr/>
            <p:nvPr/>
          </p:nvCxnSpPr>
          <p:spPr>
            <a:xfrm>
              <a:off x="10104708" y="4362294"/>
              <a:ext cx="0" cy="77832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BE62C4B-D202-745E-3C03-EA819D4C8676}"/>
                </a:ext>
              </a:extLst>
            </p:cNvPr>
            <p:cNvSpPr txBox="1"/>
            <p:nvPr/>
          </p:nvSpPr>
          <p:spPr>
            <a:xfrm>
              <a:off x="9963194" y="4501453"/>
              <a:ext cx="3429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noProof="0" dirty="0"/>
                <a:t>?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DBCCF218-7910-83D5-9C57-88182B8B1F20}"/>
                </a:ext>
              </a:extLst>
            </p:cNvPr>
            <p:cNvGrpSpPr/>
            <p:nvPr/>
          </p:nvGrpSpPr>
          <p:grpSpPr>
            <a:xfrm>
              <a:off x="6961903" y="1634251"/>
              <a:ext cx="4073709" cy="4792375"/>
              <a:chOff x="6961903" y="1634251"/>
              <a:chExt cx="4073709" cy="4792375"/>
            </a:xfrm>
          </p:grpSpPr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AC607577-26C2-C2A6-0987-924F1268DB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61903" y="1634251"/>
                <a:ext cx="3990166" cy="4754067"/>
              </a:xfrm>
              <a:prstGeom prst="rect">
                <a:avLst/>
              </a:prstGeom>
            </p:spPr>
          </p:pic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48933BD-5653-8838-421A-955F0CB5726B}"/>
                  </a:ext>
                </a:extLst>
              </p:cNvPr>
              <p:cNvSpPr txBox="1"/>
              <p:nvPr/>
            </p:nvSpPr>
            <p:spPr>
              <a:xfrm>
                <a:off x="9242205" y="6180405"/>
                <a:ext cx="1793407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_tradnl" sz="1000" i="1" noProof="0" dirty="0"/>
                  <a:t>Credit: Turck-</a:t>
                </a:r>
                <a:r>
                  <a:rPr lang="es-ES_tradnl" sz="1000" i="1" noProof="0" dirty="0" err="1"/>
                  <a:t>Chieva</a:t>
                </a:r>
                <a:r>
                  <a:rPr lang="es-ES_tradnl" sz="1000" i="1" noProof="0" dirty="0"/>
                  <a:t> 2011</a:t>
                </a:r>
              </a:p>
            </p:txBody>
          </p:sp>
        </p:grpSp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115DFC82-8E94-36B8-DE7F-08814DAFB16C}"/>
                </a:ext>
              </a:extLst>
            </p:cNvPr>
            <p:cNvCxnSpPr/>
            <p:nvPr/>
          </p:nvCxnSpPr>
          <p:spPr>
            <a:xfrm>
              <a:off x="10257108" y="4514694"/>
              <a:ext cx="0" cy="77832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464A17E-BA59-0F87-F4FE-27A25741128C}"/>
                </a:ext>
              </a:extLst>
            </p:cNvPr>
            <p:cNvSpPr txBox="1"/>
            <p:nvPr/>
          </p:nvSpPr>
          <p:spPr>
            <a:xfrm>
              <a:off x="10115594" y="4653853"/>
              <a:ext cx="3429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_tradnl" noProof="0" dirty="0"/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07673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1A5E7-F8E1-462E-2483-6D8D93545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E9078-B23D-C6F8-6C98-0DD529215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63655" cy="971245"/>
          </a:xfrm>
        </p:spPr>
        <p:txBody>
          <a:bodyPr/>
          <a:lstStyle/>
          <a:p>
            <a:r>
              <a:rPr lang="es-ES_tradnl" noProof="0" dirty="0" err="1"/>
              <a:t>IntroducciOnes</a:t>
            </a:r>
            <a:r>
              <a:rPr lang="es-ES_tradnl" noProof="0" dirty="0"/>
              <a:t> (a Discos protoplanetarios)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E9A4B3-454F-66EB-48EE-3475A54D2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 noProof="0" dirty="0"/>
              <a:t>InspiraSTEM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BCD2D-1635-EFF2-7120-44B5E6C79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s-ES_tradnl" noProof="0" smtClean="0"/>
              <a:t>6</a:t>
            </a:fld>
            <a:endParaRPr lang="es-ES_tradnl" noProof="0" dirty="0"/>
          </a:p>
        </p:txBody>
      </p:sp>
      <p:pic>
        <p:nvPicPr>
          <p:cNvPr id="16" name="Online Media 3" descr="Forming a Planetary Gap">
            <a:hlinkClick r:id="" action="ppaction://media"/>
            <a:extLst>
              <a:ext uri="{FF2B5EF4-FFF2-40B4-BE49-F238E27FC236}">
                <a16:creationId xmlns:a16="http://schemas.microsoft.com/office/drawing/2014/main" id="{06FD52CE-4917-3158-57F8-E5CD389F8F79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5181600" y="1839685"/>
            <a:ext cx="5791200" cy="434340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84A4C6D-AE57-0061-AC7D-18441FE7B418}"/>
              </a:ext>
            </a:extLst>
          </p:cNvPr>
          <p:cNvSpPr txBox="1"/>
          <p:nvPr/>
        </p:nvSpPr>
        <p:spPr>
          <a:xfrm>
            <a:off x="612647" y="2895600"/>
            <a:ext cx="44135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noProof="0" dirty="0"/>
              <a:t>La evolución del interior de los discos protoplanetarios:</a:t>
            </a:r>
          </a:p>
          <a:p>
            <a:r>
              <a:rPr lang="es-ES_tradnl" noProof="0" dirty="0"/>
              <a:t>¿Como pasa? </a:t>
            </a:r>
          </a:p>
          <a:p>
            <a:r>
              <a:rPr lang="es-ES_tradnl" noProof="0" dirty="0"/>
              <a:t>¿Si estos son sitios de formación de planetas, adonde esta el material?</a:t>
            </a:r>
          </a:p>
        </p:txBody>
      </p:sp>
    </p:spTree>
    <p:extLst>
      <p:ext uri="{BB962C8B-B14F-4D97-AF65-F5344CB8AC3E}">
        <p14:creationId xmlns:p14="http://schemas.microsoft.com/office/powerpoint/2010/main" val="1676544623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E9635-0227-828F-EAC9-B4102F6CA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65C7F-F6EF-BF7F-3A85-E393B7A7E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481" y="895044"/>
            <a:ext cx="10963655" cy="762001"/>
          </a:xfrm>
        </p:spPr>
        <p:txBody>
          <a:bodyPr/>
          <a:lstStyle/>
          <a:p>
            <a:r>
              <a:rPr lang="es-ES_tradnl" noProof="0" dirty="0"/>
              <a:t>Regímenes de Observación Astronómica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B1CAA0-C291-3AEB-C236-A241F61E6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 noProof="0" dirty="0"/>
              <a:t>InspiraSTEM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90EE3A-CB18-1C62-D78C-5C7107E1A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s-ES_tradnl" noProof="0" smtClean="0"/>
              <a:t>7</a:t>
            </a:fld>
            <a:endParaRPr lang="es-ES_tradnl" noProof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B9D8608-7CF9-716F-7C1F-092E1EF279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1752600"/>
            <a:ext cx="9296400" cy="4289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360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A2218-8B9D-6475-88E1-B84FF22FE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DF41E-BE93-99BA-364C-B4841B856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481" y="895044"/>
            <a:ext cx="10963655" cy="762001"/>
          </a:xfrm>
        </p:spPr>
        <p:txBody>
          <a:bodyPr/>
          <a:lstStyle/>
          <a:p>
            <a:r>
              <a:rPr lang="es-ES_tradnl" noProof="0" dirty="0"/>
              <a:t>Regímenes de Observación Astronómica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A9785D-7708-E6C5-F609-6A9A1F4C5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 noProof="0" dirty="0"/>
              <a:t>InspiraSTEM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2A976F-C7C9-9284-890F-78F103180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s-ES_tradnl" noProof="0" smtClean="0"/>
              <a:t>8</a:t>
            </a:fld>
            <a:endParaRPr lang="es-ES_tradnl" noProof="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2FC6438-979B-D46E-7FE8-881BB412B8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752600"/>
            <a:ext cx="6934200" cy="4251626"/>
          </a:xfrm>
          <a:prstGeom prst="rect">
            <a:avLst/>
          </a:prstGeom>
        </p:spPr>
      </p:pic>
      <p:pic>
        <p:nvPicPr>
          <p:cNvPr id="3" name="Picture 2" descr="A screenshot of a computer screen&#10;&#10;Description automatically generated with medium confidence">
            <a:extLst>
              <a:ext uri="{FF2B5EF4-FFF2-40B4-BE49-F238E27FC236}">
                <a16:creationId xmlns:a16="http://schemas.microsoft.com/office/drawing/2014/main" id="{1E60541A-E7E1-4C6C-C128-15CFBE6342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9435" y="1172766"/>
            <a:ext cx="4408547" cy="5536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763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18EE26-DDB9-227E-CA61-3104CCC8D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 noProof="0" dirty="0"/>
              <a:t>InspiraSTEM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DFE746-D3BF-5D6E-D3C3-3EA93AC7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s-ES_tradnl" noProof="0" smtClean="0"/>
              <a:t>9</a:t>
            </a:fld>
            <a:endParaRPr lang="es-ES_tradnl" noProof="0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0430E5A-C4E1-9ED7-D47A-3A591BA23E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6993" y="1674094"/>
            <a:ext cx="5777143" cy="43434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D170F2D-85A4-DCEB-FDB9-052E3F14B7EA}"/>
              </a:ext>
            </a:extLst>
          </p:cNvPr>
          <p:cNvSpPr txBox="1">
            <a:spLocks/>
          </p:cNvSpPr>
          <p:nvPr/>
        </p:nvSpPr>
        <p:spPr>
          <a:xfrm>
            <a:off x="600481" y="0"/>
            <a:ext cx="10963655" cy="165704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400" b="0" i="0" kern="1200" cap="all" spc="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noProof="0" dirty="0"/>
              <a:t>Espectroscopia molecular en discos Protoplanetarios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846003-569B-80F9-8265-4A593C31245C}"/>
              </a:ext>
            </a:extLst>
          </p:cNvPr>
          <p:cNvSpPr txBox="1"/>
          <p:nvPr/>
        </p:nvSpPr>
        <p:spPr>
          <a:xfrm>
            <a:off x="3205841" y="5923560"/>
            <a:ext cx="5181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100" noProof="0" dirty="0">
                <a:solidFill>
                  <a:schemeClr val="bg1"/>
                </a:solidFill>
              </a:rPr>
              <a:t>Credit: Henning &amp; Semenov (2013)</a:t>
            </a:r>
          </a:p>
        </p:txBody>
      </p:sp>
      <p:pic>
        <p:nvPicPr>
          <p:cNvPr id="7" name="Picture 2" descr="Formation of Spectral Lines | Astronomy">
            <a:extLst>
              <a:ext uri="{FF2B5EF4-FFF2-40B4-BE49-F238E27FC236}">
                <a16:creationId xmlns:a16="http://schemas.microsoft.com/office/drawing/2014/main" id="{7CE50051-CCE7-D79C-3EB6-2826FB7197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328062"/>
            <a:ext cx="5410200" cy="2580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6650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E6FCE-4024-D4D4-C738-E227AB853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220CD0-A345-DC0E-F3C0-DABA4453C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 noProof="0" dirty="0"/>
              <a:t>InspiraSTEM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8C364C-CCC8-A5A3-352D-0823C427B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s-ES_tradnl" noProof="0" smtClean="0"/>
              <a:t>10</a:t>
            </a:fld>
            <a:endParaRPr lang="es-ES_tradnl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1E2E8C-3FC4-C343-08F0-9257ECF7641B}"/>
              </a:ext>
            </a:extLst>
          </p:cNvPr>
          <p:cNvSpPr txBox="1"/>
          <p:nvPr/>
        </p:nvSpPr>
        <p:spPr>
          <a:xfrm>
            <a:off x="2911227" y="5385922"/>
            <a:ext cx="5181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100" noProof="0" dirty="0">
                <a:solidFill>
                  <a:schemeClr val="bg1"/>
                </a:solidFill>
              </a:rPr>
              <a:t>Credit: Henning &amp; Semenov (2013)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5AB761-CEB8-19EA-C226-88730B6CB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3384" y="510960"/>
            <a:ext cx="4246889" cy="37673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7DEA86A-0F00-DA88-44D0-E159AD3819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5415" y="2667000"/>
            <a:ext cx="8921170" cy="3164697"/>
          </a:xfrm>
          <a:prstGeom prst="rect">
            <a:avLst/>
          </a:prstGeom>
        </p:spPr>
      </p:pic>
      <p:pic>
        <p:nvPicPr>
          <p:cNvPr id="12" name="Picture 2" descr="Carbon monoxide poisoning - Wikipedia">
            <a:extLst>
              <a:ext uri="{FF2B5EF4-FFF2-40B4-BE49-F238E27FC236}">
                <a16:creationId xmlns:a16="http://schemas.microsoft.com/office/drawing/2014/main" id="{A351E6A4-74B5-51BC-37B8-695109B2EC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230880">
            <a:off x="5481270" y="3830371"/>
            <a:ext cx="342900" cy="173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Carbon monoxide poisoning - Wikipedia">
            <a:extLst>
              <a:ext uri="{FF2B5EF4-FFF2-40B4-BE49-F238E27FC236}">
                <a16:creationId xmlns:a16="http://schemas.microsoft.com/office/drawing/2014/main" id="{39DC7EFA-A6E8-DE0B-43C4-B62865407F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960013">
            <a:off x="6367831" y="3916963"/>
            <a:ext cx="342900" cy="173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Carbon monoxide poisoning - Wikipedia">
            <a:extLst>
              <a:ext uri="{FF2B5EF4-FFF2-40B4-BE49-F238E27FC236}">
                <a16:creationId xmlns:a16="http://schemas.microsoft.com/office/drawing/2014/main" id="{811CE621-E529-0C12-2C36-1A3A0BD1BC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809855">
            <a:off x="5139036" y="3923584"/>
            <a:ext cx="342900" cy="173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Carbon monoxide poisoning - Wikipedia">
            <a:extLst>
              <a:ext uri="{FF2B5EF4-FFF2-40B4-BE49-F238E27FC236}">
                <a16:creationId xmlns:a16="http://schemas.microsoft.com/office/drawing/2014/main" id="{8C5A1B15-7939-9632-D209-7E0AB5C9E5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991791">
            <a:off x="5652516" y="4486849"/>
            <a:ext cx="342900" cy="173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Carbon monoxide poisoning - Wikipedia">
            <a:extLst>
              <a:ext uri="{FF2B5EF4-FFF2-40B4-BE49-F238E27FC236}">
                <a16:creationId xmlns:a16="http://schemas.microsoft.com/office/drawing/2014/main" id="{6D9716D3-5768-C29A-938D-E36647C2DF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230880">
            <a:off x="5248737" y="4509099"/>
            <a:ext cx="342900" cy="173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Carbon monoxide poisoning - Wikipedia">
            <a:extLst>
              <a:ext uri="{FF2B5EF4-FFF2-40B4-BE49-F238E27FC236}">
                <a16:creationId xmlns:a16="http://schemas.microsoft.com/office/drawing/2014/main" id="{C45A20B5-DC3B-915D-CE48-0871CDA61F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582311">
            <a:off x="6585762" y="4487809"/>
            <a:ext cx="342900" cy="173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Carbon monoxide poisoning - Wikipedia">
            <a:extLst>
              <a:ext uri="{FF2B5EF4-FFF2-40B4-BE49-F238E27FC236}">
                <a16:creationId xmlns:a16="http://schemas.microsoft.com/office/drawing/2014/main" id="{2C4A5711-0C14-8F8C-C481-27B7C49DFB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2429509">
            <a:off x="6692269" y="4020026"/>
            <a:ext cx="342900" cy="173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804B57E-7E5F-3EC3-5395-48D1A115A118}"/>
              </a:ext>
            </a:extLst>
          </p:cNvPr>
          <p:cNvSpPr txBox="1"/>
          <p:nvPr/>
        </p:nvSpPr>
        <p:spPr>
          <a:xfrm>
            <a:off x="8732896" y="5595664"/>
            <a:ext cx="19217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000" i="1" noProof="0" dirty="0" err="1">
                <a:solidFill>
                  <a:schemeClr val="bg1"/>
                </a:solidFill>
              </a:rPr>
              <a:t>Adapted</a:t>
            </a:r>
            <a:r>
              <a:rPr lang="es-ES_tradnl" sz="1000" i="1" noProof="0" dirty="0">
                <a:solidFill>
                  <a:schemeClr val="bg1"/>
                </a:solidFill>
              </a:rPr>
              <a:t> </a:t>
            </a:r>
            <a:r>
              <a:rPr lang="es-ES_tradnl" sz="1000" i="1" noProof="0" dirty="0" err="1">
                <a:solidFill>
                  <a:schemeClr val="bg1"/>
                </a:solidFill>
              </a:rPr>
              <a:t>from</a:t>
            </a:r>
            <a:r>
              <a:rPr lang="es-ES_tradnl" sz="1000" i="1" noProof="0" dirty="0">
                <a:solidFill>
                  <a:schemeClr val="bg1"/>
                </a:solidFill>
              </a:rPr>
              <a:t>: Andrews (2020)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09DDC4B-00CB-6E61-6074-3DD922F78777}"/>
              </a:ext>
            </a:extLst>
          </p:cNvPr>
          <p:cNvSpPr/>
          <p:nvPr/>
        </p:nvSpPr>
        <p:spPr>
          <a:xfrm>
            <a:off x="5076782" y="3665414"/>
            <a:ext cx="2035678" cy="11678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0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B54D844-2D79-27D5-22A5-E18D8E968F3B}"/>
              </a:ext>
            </a:extLst>
          </p:cNvPr>
          <p:cNvCxnSpPr>
            <a:cxnSpLocks/>
          </p:cNvCxnSpPr>
          <p:nvPr/>
        </p:nvCxnSpPr>
        <p:spPr>
          <a:xfrm flipH="1" flipV="1">
            <a:off x="6147259" y="1029906"/>
            <a:ext cx="27216" cy="263550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0107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8E0BE-D09B-95C6-20BE-43C926C11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2DEFD0-EF4D-CD1C-2AFC-59F6FB8D4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 noProof="0" dirty="0"/>
              <a:t>InspiraSTEM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1A4EF5-CD2A-3353-48C2-127F70F4E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s-ES_tradnl" noProof="0" smtClean="0"/>
              <a:t>11</a:t>
            </a:fld>
            <a:endParaRPr lang="es-ES_tradnl" noProof="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5FAD8B8-8557-0EBD-0BDB-CD584A960F84}"/>
              </a:ext>
            </a:extLst>
          </p:cNvPr>
          <p:cNvSpPr txBox="1">
            <a:spLocks/>
          </p:cNvSpPr>
          <p:nvPr/>
        </p:nvSpPr>
        <p:spPr>
          <a:xfrm>
            <a:off x="600481" y="1"/>
            <a:ext cx="10963655" cy="88558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400" b="0" i="0" kern="1200" cap="all" spc="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noProof="0" dirty="0"/>
              <a:t>Excitación molecular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328EA92-1FB1-B656-7BAC-391E8D16A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7" y="965563"/>
            <a:ext cx="4771946" cy="5040902"/>
          </a:xfrm>
          <a:prstGeom prst="rect">
            <a:avLst/>
          </a:prstGeom>
        </p:spPr>
      </p:pic>
      <p:pic>
        <p:nvPicPr>
          <p:cNvPr id="10" name="Picture 2" descr="Carbon monoxide poisoning - Wikipedia">
            <a:extLst>
              <a:ext uri="{FF2B5EF4-FFF2-40B4-BE49-F238E27FC236}">
                <a16:creationId xmlns:a16="http://schemas.microsoft.com/office/drawing/2014/main" id="{3D227383-B5EA-8646-AB96-56C745AA0B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2182" y="2329305"/>
            <a:ext cx="2200185" cy="1114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21ED5DB-C19F-868D-23F1-B445A1AA3B08}"/>
                  </a:ext>
                </a:extLst>
              </p:cNvPr>
              <p:cNvSpPr txBox="1"/>
              <p:nvPr/>
            </p:nvSpPr>
            <p:spPr>
              <a:xfrm>
                <a:off x="8867592" y="2045056"/>
                <a:ext cx="2741662" cy="16312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ES_tradnl" sz="2500" noProof="0" dirty="0"/>
                  <a:t>Jerarquía energética de CO:</a:t>
                </a:r>
              </a:p>
              <a:p>
                <a:pPr algn="ctr"/>
                <a:endParaRPr lang="es-ES_tradnl" sz="2500" noProof="0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ES_tradnl" sz="25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sz="2500" i="1" noProof="0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s-ES_tradnl" sz="2500" i="1" noProof="0" smtClean="0">
                              <a:latin typeface="Cambria Math" panose="02040503050406030204" pitchFamily="18" charset="0"/>
                            </a:rPr>
                            <m:t>𝑟𝑜𝑡</m:t>
                          </m:r>
                        </m:sub>
                      </m:sSub>
                      <m:r>
                        <a:rPr lang="es-ES_tradnl" sz="2500" b="0" i="0" noProof="0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s-ES_tradnl" sz="25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sz="2500" i="1" noProof="0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s-ES_tradnl" sz="2500" i="1" noProof="0" smtClean="0">
                              <a:latin typeface="Cambria Math" panose="02040503050406030204" pitchFamily="18" charset="0"/>
                            </a:rPr>
                            <m:t>𝑣𝑖𝑏</m:t>
                          </m:r>
                        </m:sub>
                      </m:sSub>
                      <m:r>
                        <a:rPr lang="es-ES_tradnl" sz="2500" b="0" i="0" noProof="0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es-ES_tradnl" sz="25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sz="2500" i="1" noProof="0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s-ES_tradnl" sz="2500" i="1" noProof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s-ES_tradnl" sz="2500" noProof="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21ED5DB-C19F-868D-23F1-B445A1AA3B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7592" y="2045056"/>
                <a:ext cx="2741662" cy="1631216"/>
              </a:xfrm>
              <a:prstGeom prst="rect">
                <a:avLst/>
              </a:prstGeom>
              <a:blipFill>
                <a:blip r:embed="rId5"/>
                <a:stretch>
                  <a:fillRect l="-2315" t="-3077" r="-2778" b="-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79AC01F8-20CF-923E-9858-7458138195E6}"/>
              </a:ext>
            </a:extLst>
          </p:cNvPr>
          <p:cNvSpPr txBox="1"/>
          <p:nvPr/>
        </p:nvSpPr>
        <p:spPr>
          <a:xfrm>
            <a:off x="612647" y="6041214"/>
            <a:ext cx="467643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000" noProof="0" dirty="0" err="1">
                <a:latin typeface="Cambria" panose="02040503050406030204" pitchFamily="18" charset="0"/>
                <a:ea typeface="Cambria" panose="02040503050406030204" pitchFamily="18" charset="0"/>
              </a:rPr>
              <a:t>C</a:t>
            </a:r>
            <a:r>
              <a:rPr lang="es-ES_tradnl" sz="1000" noProof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redito</a:t>
            </a:r>
            <a:r>
              <a:rPr lang="es-ES_tradnl" sz="1000" noProof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Whitney R. Hess and Lisa M. Goss </a:t>
            </a:r>
            <a:r>
              <a:rPr lang="es-ES_tradnl" sz="1000" noProof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from</a:t>
            </a:r>
            <a:r>
              <a:rPr lang="es-ES_tradnl" sz="1000" noProof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Idaho State </a:t>
            </a:r>
            <a:r>
              <a:rPr lang="es-ES_tradnl" sz="1000" noProof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University</a:t>
            </a:r>
            <a:endParaRPr lang="es-ES_tradnl" sz="1000" noProof="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BCB12D5-C7EE-1019-E9E5-5D8D6B474CD2}"/>
                  </a:ext>
                </a:extLst>
              </p:cNvPr>
              <p:cNvSpPr txBox="1"/>
              <p:nvPr/>
            </p:nvSpPr>
            <p:spPr>
              <a:xfrm>
                <a:off x="6082308" y="4311516"/>
                <a:ext cx="5788593" cy="16609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ES_tradnl" sz="2500" noProof="0" dirty="0"/>
                  <a:t>Energía del fotón emitido:</a:t>
                </a:r>
              </a:p>
              <a:p>
                <a:endParaRPr lang="es-ES_tradnl" sz="2500" noProof="0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a:rPr lang="es-ES_tradnl" sz="2500" noProof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s-ES_tradnl" sz="2500" i="1" noProof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s-ES_tradnl" sz="2500" b="0" i="0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_tradnl" sz="25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sz="2500" i="1" noProof="0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s-ES_tradnl" sz="2500" i="1" noProof="0" smtClean="0">
                              <a:latin typeface="Cambria Math" panose="02040503050406030204" pitchFamily="18" charset="0"/>
                            </a:rPr>
                            <m:t>𝑟𝑜𝑡</m:t>
                          </m:r>
                        </m:sub>
                      </m:sSub>
                      <m:r>
                        <a:rPr lang="es-ES_tradnl" sz="2500" noProof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_tradnl" sz="25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sz="2500" i="1" noProof="0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s-ES_tradnl" sz="2500" i="1" noProof="0" smtClean="0">
                              <a:latin typeface="Cambria Math" panose="02040503050406030204" pitchFamily="18" charset="0"/>
                            </a:rPr>
                            <m:t>𝑣𝑖𝑏</m:t>
                          </m:r>
                        </m:sub>
                      </m:sSub>
                      <m:r>
                        <a:rPr lang="es-ES_tradnl" sz="2500" noProof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ES_tradnl" sz="25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sz="2500" i="1" noProof="0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s-ES_tradnl" sz="2500" i="1" noProof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s-ES_tradnl" sz="2500" i="0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_tradnl" sz="2500" b="0" i="0" noProof="0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s-ES_tradnl" sz="25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sz="2500" i="1" noProof="0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s-ES_tradnl" sz="2500" b="0" i="1" noProof="0" smtClean="0">
                              <a:latin typeface="Cambria Math" panose="02040503050406030204" pitchFamily="18" charset="0"/>
                            </a:rPr>
                            <m:t>𝑠𝑢𝑝𝑒𝑟𝑖𝑜𝑟</m:t>
                          </m:r>
                        </m:sub>
                      </m:sSub>
                      <m:r>
                        <a:rPr lang="es-ES_tradnl" sz="2500" noProof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_tradnl" sz="25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sz="2500" i="1" noProof="0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s-ES_tradnl" sz="2500" b="0" i="1" noProof="0" smtClean="0">
                              <a:latin typeface="Cambria Math" panose="02040503050406030204" pitchFamily="18" charset="0"/>
                            </a:rPr>
                            <m:t>𝑖𝑛𝑓𝑒𝑟𝑖𝑜𝑟</m:t>
                          </m:r>
                        </m:sub>
                      </m:sSub>
                      <m:r>
                        <a:rPr lang="es-ES_tradnl" sz="2500" b="0" i="0" noProof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s-ES_tradnl" sz="2500" i="0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ES_tradnl" sz="2500" i="1" noProof="0" smtClean="0">
                          <a:latin typeface="Cambria Math" panose="02040503050406030204" pitchFamily="18" charset="0"/>
                        </a:rPr>
                        <m:t>ℎ</m:t>
                      </m:r>
                      <m:sSub>
                        <m:sSubPr>
                          <m:ctrlPr>
                            <a:rPr lang="es-ES_tradnl" sz="25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sz="2500" i="1" noProof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s-ES_tradnl" sz="2500" i="1" noProof="0" smtClean="0">
                              <a:latin typeface="Cambria Math" panose="02040503050406030204" pitchFamily="18" charset="0"/>
                            </a:rPr>
                            <m:t>𝑒𝑚𝑖𝑡</m:t>
                          </m:r>
                        </m:sub>
                      </m:sSub>
                    </m:oMath>
                  </m:oMathPara>
                </a14:m>
                <a:endParaRPr lang="es-ES_tradnl" sz="2500" noProof="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BCB12D5-C7EE-1019-E9E5-5D8D6B474C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2308" y="4311516"/>
                <a:ext cx="5788593" cy="1660904"/>
              </a:xfrm>
              <a:prstGeom prst="rect">
                <a:avLst/>
              </a:prstGeom>
              <a:blipFill>
                <a:blip r:embed="rId6"/>
                <a:stretch>
                  <a:fillRect t="-3030"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5430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18B83-EF14-F0B4-FA18-510B8CE2B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CC599-AB1D-D830-CD84-47574B8B3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 noProof="0" dirty="0"/>
              <a:t>InspiraSTEM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88172F-B1FD-C64F-CF52-7690A86FA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s-ES_tradnl" noProof="0" smtClean="0"/>
              <a:t>12</a:t>
            </a:fld>
            <a:endParaRPr lang="es-ES_tradnl" noProof="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2ACF29-9614-153D-82B2-67469D96CF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2407" y="148920"/>
            <a:ext cx="5867400" cy="619809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F39D831-CA1C-8898-92FA-CFFDCB3AF8A7}"/>
              </a:ext>
            </a:extLst>
          </p:cNvPr>
          <p:cNvSpPr txBox="1"/>
          <p:nvPr/>
        </p:nvSpPr>
        <p:spPr>
          <a:xfrm>
            <a:off x="612647" y="6620017"/>
            <a:ext cx="467643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000" noProof="0" dirty="0" err="1">
                <a:latin typeface="Cambria" panose="02040503050406030204" pitchFamily="18" charset="0"/>
                <a:ea typeface="Cambria" panose="02040503050406030204" pitchFamily="18" charset="0"/>
              </a:rPr>
              <a:t>C</a:t>
            </a:r>
            <a:r>
              <a:rPr lang="es-ES_tradnl" sz="1000" noProof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redito</a:t>
            </a:r>
            <a:r>
              <a:rPr lang="es-ES_tradnl" sz="1000" noProof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: Whitney R. Hess and Lisa M. Goss </a:t>
            </a:r>
            <a:r>
              <a:rPr lang="es-ES_tradnl" sz="1000" noProof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from</a:t>
            </a:r>
            <a:r>
              <a:rPr lang="es-ES_tradnl" sz="1000" noProof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Idaho State </a:t>
            </a:r>
            <a:r>
              <a:rPr lang="es-ES_tradnl" sz="1000" noProof="0" dirty="0" err="1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University</a:t>
            </a:r>
            <a:endParaRPr lang="es-ES_tradnl" sz="1000" noProof="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45756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C0725-E9C1-8230-1894-7FCE89265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481" y="895044"/>
            <a:ext cx="10963655" cy="762001"/>
          </a:xfrm>
        </p:spPr>
        <p:txBody>
          <a:bodyPr/>
          <a:lstStyle/>
          <a:p>
            <a:r>
              <a:rPr lang="es-ES_tradnl" noProof="0" dirty="0" err="1"/>
              <a:t>Cinematica</a:t>
            </a:r>
            <a:r>
              <a:rPr lang="es-ES_tradnl" noProof="0" dirty="0"/>
              <a:t> Molecular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F5434D-3B9B-1379-AAD5-80DE48E25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 noProof="0" dirty="0"/>
              <a:t>InspiraSTEM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C30C58-F495-7396-32A4-6CDEA3BA5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s-ES_tradnl" noProof="0" smtClean="0"/>
              <a:t>13</a:t>
            </a:fld>
            <a:endParaRPr lang="es-ES_tradnl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45B3DB-3611-D1DC-16DB-03970B9E2A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600" y="1837069"/>
            <a:ext cx="6248400" cy="4506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7023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93961-8011-BECA-0F1A-032D64B37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AECDB-EA93-C668-9321-DFC980DBE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481" y="895044"/>
            <a:ext cx="10963655" cy="762001"/>
          </a:xfrm>
        </p:spPr>
        <p:txBody>
          <a:bodyPr/>
          <a:lstStyle/>
          <a:p>
            <a:r>
              <a:rPr lang="es-ES_tradnl" noProof="0" dirty="0" err="1"/>
              <a:t>Cinematica</a:t>
            </a:r>
            <a:r>
              <a:rPr lang="es-ES_tradnl" noProof="0" dirty="0"/>
              <a:t> Molecular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6BCEDC-2176-3EEE-5A53-40329BE57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 noProof="0" dirty="0"/>
              <a:t>InspiraSTEM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F312AE-4771-FC0B-D585-6B22667AB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s-ES_tradnl" noProof="0" smtClean="0"/>
              <a:t>14</a:t>
            </a:fld>
            <a:endParaRPr lang="es-ES_tradnl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6E9453-8A2F-A5F7-078B-D51BC16CF4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1875790"/>
            <a:ext cx="7218543" cy="408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4395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5B993-E28B-0AE7-F31E-7810F94EC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C920-A3FD-AA7F-AD33-897DCDC01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481" y="895044"/>
            <a:ext cx="10963655" cy="762001"/>
          </a:xfrm>
        </p:spPr>
        <p:txBody>
          <a:bodyPr/>
          <a:lstStyle/>
          <a:p>
            <a:r>
              <a:rPr lang="es-ES_tradnl" noProof="0" dirty="0"/>
              <a:t>Monóxido de Carbono en el interior del disco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22187A-0849-4CD8-A17A-0F4838ABE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 noProof="0" dirty="0"/>
              <a:t>InspiraSTEM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ED8FC7-32CA-1B0E-93CE-9EF53F3EF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s-ES_tradnl" noProof="0" smtClean="0"/>
              <a:t>15</a:t>
            </a:fld>
            <a:endParaRPr lang="es-ES_tradnl" noProof="0" dirty="0"/>
          </a:p>
        </p:txBody>
      </p:sp>
      <p:pic>
        <p:nvPicPr>
          <p:cNvPr id="8" name="Picture 2" descr="Carbon monoxide poisoning - Wikipedia">
            <a:extLst>
              <a:ext uri="{FF2B5EF4-FFF2-40B4-BE49-F238E27FC236}">
                <a16:creationId xmlns:a16="http://schemas.microsoft.com/office/drawing/2014/main" id="{4B7F9E04-F98A-0EED-1C39-3D3609C132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323929"/>
            <a:ext cx="2651625" cy="1342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74A3738-256F-95AF-0401-5E21F97154EF}"/>
              </a:ext>
            </a:extLst>
          </p:cNvPr>
          <p:cNvSpPr txBox="1"/>
          <p:nvPr/>
        </p:nvSpPr>
        <p:spPr>
          <a:xfrm>
            <a:off x="4267200" y="1790090"/>
            <a:ext cx="7696199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2000" noProof="0" dirty="0"/>
              <a:t>CO es omnipresente entre todos discos protoplanetarios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2000" noProof="0" dirty="0"/>
              <a:t>El hidrógeno molecular (H₂) es </a:t>
            </a:r>
            <a:r>
              <a:rPr lang="es-ES_tradnl" sz="2000" b="1" noProof="0" dirty="0"/>
              <a:t>4 órdenes de magnitud más abundante</a:t>
            </a:r>
            <a:r>
              <a:rPr lang="es-ES_tradnl" sz="2000" noProof="0" dirty="0"/>
              <a:t> que el CO pero carece de un dipolo eléctrico permanente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2000" noProof="0" dirty="0"/>
              <a:t>CO </a:t>
            </a:r>
            <a:r>
              <a:rPr lang="es-ES_tradnl" sz="2000" noProof="0" dirty="0" err="1"/>
              <a:t>rovibracional</a:t>
            </a:r>
            <a:r>
              <a:rPr lang="es-ES_tradnl" sz="2000" noProof="0" dirty="0"/>
              <a:t> se excita de manera eficiente en las condiciones cálidas de </a:t>
            </a:r>
            <a:r>
              <a:rPr lang="es-ES_tradnl" sz="2000" b="1" noProof="0" dirty="0"/>
              <a:t>formación planetaria del disco interno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2000" noProof="0" dirty="0"/>
              <a:t>La capa superficial se observa con mayor facilidad porque es </a:t>
            </a:r>
            <a:r>
              <a:rPr lang="es-ES_tradnl" sz="2000" b="1" noProof="0" dirty="0"/>
              <a:t>ópticamente delgada y está directamente expuesta a la irradiación estelar, a diferencia de las capas interiores protegidas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2000" noProof="0" dirty="0"/>
              <a:t>La temperatura del gas emisor puede deducirse a partir de las </a:t>
            </a:r>
            <a:r>
              <a:rPr lang="es-ES_tradnl" sz="2000" b="1" noProof="0" dirty="0"/>
              <a:t>relaciones entre las líneas de emisión</a:t>
            </a:r>
            <a:r>
              <a:rPr lang="es-ES_tradnl" sz="2000" noProof="0" dirty="0"/>
              <a:t>, la </a:t>
            </a:r>
            <a:r>
              <a:rPr lang="es-ES_tradnl" sz="2000" b="1" noProof="0" dirty="0"/>
              <a:t>masa del gas </a:t>
            </a:r>
            <a:r>
              <a:rPr lang="es-ES_tradnl" sz="2000" noProof="0" dirty="0"/>
              <a:t>y las </a:t>
            </a:r>
            <a:r>
              <a:rPr lang="es-ES_tradnl" sz="2000" b="1" noProof="0" dirty="0"/>
              <a:t>densidades de columna</a:t>
            </a:r>
            <a:r>
              <a:rPr lang="es-ES_tradnl" sz="2000" noProof="0" dirty="0"/>
              <a:t>, </a:t>
            </a:r>
            <a:r>
              <a:rPr lang="es-ES_tradnl" sz="2000" b="1" noProof="0" dirty="0"/>
              <a:t>suponiendo que el gas sea ópticamente delgado</a:t>
            </a:r>
            <a:r>
              <a:rPr lang="es-ES_tradnl" sz="2000" noProof="0" dirty="0"/>
              <a:t>, así como de la dinámica de la zona emisora del gas</a:t>
            </a:r>
          </a:p>
        </p:txBody>
      </p:sp>
    </p:spTree>
    <p:extLst>
      <p:ext uri="{BB962C8B-B14F-4D97-AF65-F5344CB8AC3E}">
        <p14:creationId xmlns:p14="http://schemas.microsoft.com/office/powerpoint/2010/main" val="20203110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86C1A-BFEF-6BB1-6BFB-808B49CA7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BF7E0-4A00-E284-8ED5-D46DA583F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481" y="895044"/>
            <a:ext cx="10963655" cy="762001"/>
          </a:xfrm>
        </p:spPr>
        <p:txBody>
          <a:bodyPr/>
          <a:lstStyle/>
          <a:p>
            <a:r>
              <a:rPr lang="es-ES_tradnl" noProof="0" dirty="0"/>
              <a:t>Monóxido de Carbono en el interior del disco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541E02-4109-0221-D6D7-0B55C9652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 noProof="0" dirty="0"/>
              <a:t>InspiraSTEM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C32516-BE6E-4036-86D7-11B098538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s-ES_tradnl" noProof="0" smtClean="0"/>
              <a:t>16</a:t>
            </a:fld>
            <a:endParaRPr lang="es-ES_tradnl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05BB17-B537-B89D-9E45-6B63152E8A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758" y="2267861"/>
            <a:ext cx="7924800" cy="3695095"/>
          </a:xfrm>
          <a:prstGeom prst="rect">
            <a:avLst/>
          </a:prstGeom>
        </p:spPr>
      </p:pic>
      <p:pic>
        <p:nvPicPr>
          <p:cNvPr id="8" name="Picture 2" descr="Carbon monoxide poisoning - Wikipedia">
            <a:extLst>
              <a:ext uri="{FF2B5EF4-FFF2-40B4-BE49-F238E27FC236}">
                <a16:creationId xmlns:a16="http://schemas.microsoft.com/office/drawing/2014/main" id="{BB4BF3ED-C462-3D33-68DD-A87874A06A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1514" y="3001278"/>
            <a:ext cx="2200185" cy="1114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55410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D3697-159E-A301-DAF5-91C54B8BA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99F0C-070E-4E79-F00C-447E3602A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481" y="895044"/>
            <a:ext cx="10963655" cy="762001"/>
          </a:xfrm>
        </p:spPr>
        <p:txBody>
          <a:bodyPr/>
          <a:lstStyle/>
          <a:p>
            <a:r>
              <a:rPr lang="es-ES_tradnl" noProof="0" dirty="0"/>
              <a:t>Monóxido de Carbono en el interior del disco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29D66F-CCD8-7DA3-2ECF-B40712651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 noProof="0" dirty="0"/>
              <a:t>InspiraSTEM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6C649F-37A3-13D9-C38D-03BB188C6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s-ES_tradnl" noProof="0" smtClean="0"/>
              <a:t>17</a:t>
            </a:fld>
            <a:endParaRPr lang="es-ES_tradnl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5FCCFD-55C4-6A7D-0473-1AD2CB800B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657045"/>
            <a:ext cx="7086600" cy="43596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948DAC-6E9D-53F0-CD5C-85E0313C11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5103" y="1452974"/>
            <a:ext cx="3343681" cy="4563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6539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F6D9B-81B0-DE0D-1252-20E27A34A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A7F45-7048-A2E4-8CFB-C132EFF38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481" y="895044"/>
            <a:ext cx="10963655" cy="762001"/>
          </a:xfrm>
        </p:spPr>
        <p:txBody>
          <a:bodyPr/>
          <a:lstStyle/>
          <a:p>
            <a:r>
              <a:rPr lang="es-ES_tradnl" noProof="0" dirty="0"/>
              <a:t>Monóxido de Carbono en el interior del disco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3A391A-6E65-D6B9-ECC5-72C865E74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 noProof="0" dirty="0"/>
              <a:t>InspiraSTEM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12C930-F67C-FCCD-ED4B-D0CDE4079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s-ES_tradnl" noProof="0" smtClean="0"/>
              <a:t>18</a:t>
            </a:fld>
            <a:endParaRPr lang="es-ES_tradnl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E68E9B-944B-C020-80B0-1465FA5AFD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657045"/>
            <a:ext cx="7086600" cy="435967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75C835E-4DDA-91B8-3C01-BC81A8AE78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466" y="1531799"/>
            <a:ext cx="3288189" cy="448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2268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3FF24-2395-22CC-83AC-46ED8D480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0" dirty="0"/>
              <a:t>Desarrollo del interior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67C75B-04D1-32BA-0BDC-98B250028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 noProof="0" dirty="0"/>
              <a:t>InspiraSTEM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FCE098-E83D-8E41-4992-2F73EC076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s-ES_tradnl" noProof="0" smtClean="0"/>
              <a:t>19</a:t>
            </a:fld>
            <a:endParaRPr lang="es-ES_tradnl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8CD892-EFE3-FE5D-CFD4-AEAB655BBC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5023" y="4644394"/>
            <a:ext cx="1828800" cy="1828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EDA96AD-151C-50F1-48FD-59BAFFD93B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4537" y="4298410"/>
            <a:ext cx="2178825" cy="21861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618F044-3836-D27D-0CCF-880E020764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6099" y="4644394"/>
            <a:ext cx="1756857" cy="177720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5CF7602-8C7F-8A48-4976-AF870BF2E2B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4799" y="2430930"/>
            <a:ext cx="1638300" cy="166687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A5FDD94-48A6-5C6E-9056-BBD077946A1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5612" y="2368680"/>
            <a:ext cx="2403167" cy="2076336"/>
          </a:xfrm>
          <a:prstGeom prst="rect">
            <a:avLst/>
          </a:prstGeom>
        </p:spPr>
      </p:pic>
      <p:pic>
        <p:nvPicPr>
          <p:cNvPr id="19" name="Graphic 18" descr="Donut outline">
            <a:extLst>
              <a:ext uri="{FF2B5EF4-FFF2-40B4-BE49-F238E27FC236}">
                <a16:creationId xmlns:a16="http://schemas.microsoft.com/office/drawing/2014/main" id="{5390359B-BDD7-81A9-ACD7-317AF28DC0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311803" y="4609136"/>
            <a:ext cx="1670586" cy="1670586"/>
          </a:xfrm>
          <a:prstGeom prst="rect">
            <a:avLst/>
          </a:prstGeom>
        </p:spPr>
      </p:pic>
      <p:pic>
        <p:nvPicPr>
          <p:cNvPr id="21" name="Graphic 20" descr="Whole pizza outline">
            <a:extLst>
              <a:ext uri="{FF2B5EF4-FFF2-40B4-BE49-F238E27FC236}">
                <a16:creationId xmlns:a16="http://schemas.microsoft.com/office/drawing/2014/main" id="{E32A51D4-9631-5663-DA77-944D0BCBAE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18872" y="2284540"/>
            <a:ext cx="1646394" cy="1646394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6499401-E553-E9B9-0066-E13562FA6E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010" y="1645988"/>
            <a:ext cx="9722793" cy="480015"/>
          </a:xfrm>
        </p:spPr>
        <p:txBody>
          <a:bodyPr/>
          <a:lstStyle/>
          <a:p>
            <a:r>
              <a:rPr lang="es-ES_tradnl" sz="2000" noProof="0" dirty="0"/>
              <a:t>¿Que nos dice nuestros datos del interior del disco? </a:t>
            </a:r>
            <a:endParaRPr lang="es-ES_tradnl" noProof="0" dirty="0"/>
          </a:p>
          <a:p>
            <a:endParaRPr lang="es-ES_tradnl" noProof="0" dirty="0"/>
          </a:p>
          <a:p>
            <a:endParaRPr lang="es-ES_tradnl" noProof="0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B287AD7-4220-EBB3-2E9B-ADFFD5B61A94}"/>
              </a:ext>
            </a:extLst>
          </p:cNvPr>
          <p:cNvSpPr txBox="1">
            <a:spLocks/>
          </p:cNvSpPr>
          <p:nvPr/>
        </p:nvSpPr>
        <p:spPr>
          <a:xfrm>
            <a:off x="612647" y="3074591"/>
            <a:ext cx="9722793" cy="480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2000" noProof="0" dirty="0"/>
              <a:t>Disco relleno</a:t>
            </a:r>
            <a:endParaRPr lang="es-ES_tradnl" noProof="0" dirty="0"/>
          </a:p>
          <a:p>
            <a:endParaRPr lang="es-ES_tradnl" noProof="0" dirty="0"/>
          </a:p>
          <a:p>
            <a:endParaRPr lang="es-ES_tradnl" noProof="0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71F567C-4965-A54F-0AE9-B4BD9557C139}"/>
              </a:ext>
            </a:extLst>
          </p:cNvPr>
          <p:cNvSpPr txBox="1">
            <a:spLocks/>
          </p:cNvSpPr>
          <p:nvPr/>
        </p:nvSpPr>
        <p:spPr>
          <a:xfrm>
            <a:off x="612647" y="5145370"/>
            <a:ext cx="9722793" cy="480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28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685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_tradnl" sz="2000" noProof="0" dirty="0"/>
              <a:t>Disco transicional</a:t>
            </a:r>
            <a:endParaRPr lang="es-ES_tradnl" noProof="0" dirty="0"/>
          </a:p>
          <a:p>
            <a:endParaRPr lang="es-ES_tradnl" noProof="0" dirty="0"/>
          </a:p>
          <a:p>
            <a:endParaRPr lang="es-ES_tradnl" noProof="0" dirty="0"/>
          </a:p>
        </p:txBody>
      </p:sp>
      <p:pic>
        <p:nvPicPr>
          <p:cNvPr id="18" name="Picture 17" descr="Planets Still Forming Detected in a Protoplanetary Disk | News |  Astrobiology">
            <a:extLst>
              <a:ext uri="{FF2B5EF4-FFF2-40B4-BE49-F238E27FC236}">
                <a16:creationId xmlns:a16="http://schemas.microsoft.com/office/drawing/2014/main" id="{5787EB03-9BCE-A93E-9679-CE37272E8CE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73627" y="2401031"/>
            <a:ext cx="1892817" cy="1892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6164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BFA42-257C-6D5E-5856-44C676EEC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A1926-ED60-FE9F-7AF2-38EB76EA7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0" dirty="0"/>
              <a:t>8 discos, 8 grupos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8C855-62DA-957F-119B-18E28C41A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010" y="1645988"/>
            <a:ext cx="10963656" cy="1143000"/>
          </a:xfrm>
        </p:spPr>
        <p:txBody>
          <a:bodyPr/>
          <a:lstStyle/>
          <a:p>
            <a:r>
              <a:rPr lang="es-ES_tradnl" sz="2000" noProof="0" dirty="0"/>
              <a:t>¡Ahora nos toca analizar nuestra muestra de discos!</a:t>
            </a:r>
          </a:p>
          <a:p>
            <a:pPr lvl="2"/>
            <a:endParaRPr lang="es-ES_tradnl" noProof="0" dirty="0"/>
          </a:p>
          <a:p>
            <a:endParaRPr lang="es-ES_tradnl" noProof="0" dirty="0"/>
          </a:p>
          <a:p>
            <a:endParaRPr lang="es-ES_tradnl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AAB33A-8478-69E9-DA16-99B66389D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 noProof="0" dirty="0"/>
              <a:t>InspiraSTEM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86956E-6993-1561-5C29-5711C9E2B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s-ES_tradnl" noProof="0" smtClean="0"/>
              <a:t>20</a:t>
            </a:fld>
            <a:endParaRPr lang="es-ES_tradnl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50B345-ABA0-9D8B-E1BC-66E1E44CA3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621" y="4516826"/>
            <a:ext cx="1828800" cy="1828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2E2016B-DD33-6C38-FACC-55981C34D9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6563" y="4340381"/>
            <a:ext cx="2178825" cy="21861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70837A9-05CD-CDDB-96F2-ADB0E86C39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4682336"/>
            <a:ext cx="1756857" cy="177720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F7B47B5-9537-3173-23BD-2C8C4CAD50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0045" y="2414775"/>
            <a:ext cx="1638300" cy="16668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30E371F-2314-5FF0-99A5-4A54E4D4576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3700" y="2403889"/>
            <a:ext cx="2540775" cy="208026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BCDE97F-F6C3-4966-11A8-E5EE56D7651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34" y="2371059"/>
            <a:ext cx="2403167" cy="2076336"/>
          </a:xfrm>
          <a:prstGeom prst="rect">
            <a:avLst/>
          </a:prstGeom>
        </p:spPr>
      </p:pic>
      <p:pic>
        <p:nvPicPr>
          <p:cNvPr id="19" name="Graphic 18" descr="Donut outline">
            <a:extLst>
              <a:ext uri="{FF2B5EF4-FFF2-40B4-BE49-F238E27FC236}">
                <a16:creationId xmlns:a16="http://schemas.microsoft.com/office/drawing/2014/main" id="{E03F2884-481C-636A-462B-1D3428E780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61916" y="4573460"/>
            <a:ext cx="1670586" cy="1670586"/>
          </a:xfrm>
          <a:prstGeom prst="rect">
            <a:avLst/>
          </a:prstGeom>
        </p:spPr>
      </p:pic>
      <p:pic>
        <p:nvPicPr>
          <p:cNvPr id="21" name="Graphic 20" descr="Whole pizza outline">
            <a:extLst>
              <a:ext uri="{FF2B5EF4-FFF2-40B4-BE49-F238E27FC236}">
                <a16:creationId xmlns:a16="http://schemas.microsoft.com/office/drawing/2014/main" id="{1B579F19-438E-A518-706D-80D5E9CD0A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55860" y="2371059"/>
            <a:ext cx="1646394" cy="1646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4817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FD6AD-298C-A2B6-FA99-94C616502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168F7-8AC6-A2F7-FAA9-5A3C0083D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481" y="895044"/>
            <a:ext cx="10963655" cy="762001"/>
          </a:xfrm>
        </p:spPr>
        <p:txBody>
          <a:bodyPr/>
          <a:lstStyle/>
          <a:p>
            <a:r>
              <a:rPr lang="es-ES_tradnl" noProof="0" dirty="0"/>
              <a:t>Actividad 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D1AEB1-46A4-0314-E10A-84DC56FF3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 noProof="0" dirty="0"/>
              <a:t>InspiraSTEM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FE9046-9EDF-FA98-977F-6021AF027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s-ES_tradnl" noProof="0" smtClean="0"/>
              <a:t>21</a:t>
            </a:fld>
            <a:endParaRPr lang="es-ES_tradnl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D9033-8DEB-FDFD-5D62-7B77BEB80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828800"/>
            <a:ext cx="10963656" cy="4343400"/>
          </a:xfrm>
        </p:spPr>
        <p:txBody>
          <a:bodyPr/>
          <a:lstStyle/>
          <a:p>
            <a:r>
              <a:rPr lang="es-ES_tradnl" sz="2400" noProof="0" dirty="0"/>
              <a:t>Navegar al GitHub y el </a:t>
            </a:r>
            <a:r>
              <a:rPr lang="es-ES_tradnl" sz="2400" noProof="0" dirty="0" err="1"/>
              <a:t>Jupyter</a:t>
            </a:r>
            <a:r>
              <a:rPr lang="es-ES_tradnl" sz="2400" noProof="0" dirty="0"/>
              <a:t> Notebook</a:t>
            </a:r>
          </a:p>
          <a:p>
            <a:endParaRPr lang="es-ES_tradnl" sz="2400" noProof="0" dirty="0"/>
          </a:p>
          <a:p>
            <a:r>
              <a:rPr lang="es-ES_tradnl" sz="2400" noProof="0" dirty="0" err="1"/>
              <a:t>Github</a:t>
            </a:r>
            <a:r>
              <a:rPr lang="es-ES_tradnl" sz="2400" noProof="0" dirty="0"/>
              <a:t> Repo</a:t>
            </a:r>
          </a:p>
          <a:p>
            <a:r>
              <a:rPr lang="es-ES_tradnl" sz="2400" noProof="0" dirty="0">
                <a:latin typeface="Cambria" panose="02040503050406030204" pitchFamily="18" charset="0"/>
                <a:hlinkClick r:id="rId3"/>
              </a:rPr>
              <a:t>https://github.com/mas-astro/inspirastem-ppd-CO/tree/main/01_intro</a:t>
            </a:r>
            <a:endParaRPr lang="es-ES_tradnl" sz="2400" noProof="0" dirty="0">
              <a:latin typeface="Cambria" panose="02040503050406030204" pitchFamily="18" charset="0"/>
            </a:endParaRPr>
          </a:p>
          <a:p>
            <a:endParaRPr lang="es-ES_tradnl" sz="2400" noProof="0" dirty="0"/>
          </a:p>
          <a:p>
            <a:r>
              <a:rPr lang="es-ES_tradnl" sz="2400" noProof="0" dirty="0"/>
              <a:t>Google </a:t>
            </a:r>
            <a:r>
              <a:rPr lang="es-ES_tradnl" sz="2400" noProof="0" dirty="0" err="1"/>
              <a:t>Colab</a:t>
            </a:r>
            <a:endParaRPr lang="es-ES_tradnl" sz="2400" noProof="0" dirty="0"/>
          </a:p>
          <a:p>
            <a:r>
              <a:rPr lang="es-ES_tradnl" sz="2400" noProof="0" dirty="0">
                <a:hlinkClick r:id="rId4"/>
              </a:rPr>
              <a:t>https://colab.research.google.com/github/mas-astro/inspirastem-ppd-CO/blob/main/01_intro/dia_1_actividad1.ipynb</a:t>
            </a:r>
            <a:endParaRPr lang="es-ES_tradnl" sz="2400" noProof="0" dirty="0"/>
          </a:p>
        </p:txBody>
      </p:sp>
    </p:spTree>
    <p:extLst>
      <p:ext uri="{BB962C8B-B14F-4D97-AF65-F5344CB8AC3E}">
        <p14:creationId xmlns:p14="http://schemas.microsoft.com/office/powerpoint/2010/main" val="5941890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2532F-A903-E46C-870E-CEA0E5CB4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0" dirty="0"/>
              <a:t>Instrucciones actividad 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719094-6400-227C-2FFE-7D09D32C2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 noProof="0" dirty="0"/>
              <a:t>InspiraSTEM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468794-10E5-1B4E-154A-357CE8C91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s-ES_tradnl" noProof="0" smtClean="0"/>
              <a:t>22</a:t>
            </a:fld>
            <a:endParaRPr lang="es-ES_tradnl" noProof="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D4096A4-9606-7E1E-860B-6EF7E9F9BC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342900" indent="-342900">
              <a:buFont typeface="+mj-lt"/>
              <a:buAutoNum type="arabicPeriod"/>
            </a:pPr>
            <a:r>
              <a:rPr lang="es-ES_tradnl" sz="1800" noProof="0" dirty="0"/>
              <a:t>Abre el </a:t>
            </a:r>
            <a:r>
              <a:rPr lang="es-ES_tradnl" sz="1800" noProof="0" dirty="0" err="1"/>
              <a:t>Jupyter</a:t>
            </a:r>
            <a:r>
              <a:rPr lang="es-ES_tradnl" sz="1800" noProof="0" dirty="0"/>
              <a:t> Notebook y ejecuta las celdas una por una.</a:t>
            </a:r>
          </a:p>
          <a:p>
            <a:pPr marL="342900" indent="-342900">
              <a:buFont typeface="+mj-lt"/>
              <a:buAutoNum type="arabicPeriod"/>
            </a:pPr>
            <a:r>
              <a:rPr lang="es-ES_tradnl" sz="1800" noProof="0" dirty="0"/>
              <a:t>Sigue las instrucciones del Notebook.</a:t>
            </a:r>
          </a:p>
          <a:p>
            <a:pPr marL="342900" indent="-342900">
              <a:buFont typeface="+mj-lt"/>
              <a:buAutoNum type="arabicPeriod"/>
            </a:pPr>
            <a:r>
              <a:rPr lang="es-ES_tradnl" sz="1800" noProof="0" dirty="0"/>
              <a:t>Finalmente, cargarás tus espectros de disco y tomarás nota de cualquier cosa interesante o destacada en tus espectros para discutir en grupo y familiarizarte con tu disco.</a:t>
            </a:r>
          </a:p>
        </p:txBody>
      </p:sp>
    </p:spTree>
    <p:extLst>
      <p:ext uri="{BB962C8B-B14F-4D97-AF65-F5344CB8AC3E}">
        <p14:creationId xmlns:p14="http://schemas.microsoft.com/office/powerpoint/2010/main" val="27416542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DAE50-7759-B1B5-AFF7-E729D9160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DA337-16AA-486E-F79B-30E6C69FB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noProof="0" dirty="0"/>
              <a:t>8 discos, 8 grupos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34D22C-7BE6-135F-3A06-234FF1DBA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_tradnl" noProof="0" dirty="0"/>
              <a:t>InspiraSTEM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524C5F-AA7E-8D91-26DE-ECE7C50A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s-ES_tradnl" noProof="0" smtClean="0"/>
              <a:t>23</a:t>
            </a:fld>
            <a:endParaRPr lang="es-ES_tradnl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EC4C7C87-9797-AB8F-3088-5B8198AF3F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4122892"/>
                  </p:ext>
                </p:extLst>
              </p:nvPr>
            </p:nvGraphicFramePr>
            <p:xfrm>
              <a:off x="2132075" y="2160589"/>
              <a:ext cx="7924800" cy="2420592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43000">
                      <a:extLst>
                        <a:ext uri="{9D8B030D-6E8A-4147-A177-3AD203B41FA5}">
                          <a16:colId xmlns:a16="http://schemas.microsoft.com/office/drawing/2014/main" val="2600928355"/>
                        </a:ext>
                      </a:extLst>
                    </a:gridCol>
                    <a:gridCol w="1066800">
                      <a:extLst>
                        <a:ext uri="{9D8B030D-6E8A-4147-A177-3AD203B41FA5}">
                          <a16:colId xmlns:a16="http://schemas.microsoft.com/office/drawing/2014/main" val="2403635189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865700936"/>
                        </a:ext>
                      </a:extLst>
                    </a:gridCol>
                    <a:gridCol w="990600">
                      <a:extLst>
                        <a:ext uri="{9D8B030D-6E8A-4147-A177-3AD203B41FA5}">
                          <a16:colId xmlns:a16="http://schemas.microsoft.com/office/drawing/2014/main" val="3001935575"/>
                        </a:ext>
                      </a:extLst>
                    </a:gridCol>
                    <a:gridCol w="1066800">
                      <a:extLst>
                        <a:ext uri="{9D8B030D-6E8A-4147-A177-3AD203B41FA5}">
                          <a16:colId xmlns:a16="http://schemas.microsoft.com/office/drawing/2014/main" val="3908211427"/>
                        </a:ext>
                      </a:extLst>
                    </a:gridCol>
                    <a:gridCol w="1143000">
                      <a:extLst>
                        <a:ext uri="{9D8B030D-6E8A-4147-A177-3AD203B41FA5}">
                          <a16:colId xmlns:a16="http://schemas.microsoft.com/office/drawing/2014/main" val="3147926855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2205770331"/>
                        </a:ext>
                      </a:extLst>
                    </a:gridCol>
                  </a:tblGrid>
                  <a:tr h="526832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Star Name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s-ES_tradnl" sz="1200" noProof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1200" noProof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s-ES_tradnl" sz="1200" noProof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s-ES_tradnl" sz="1200" noProof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1200" noProof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𝐋</m:t>
                                    </m:r>
                                  </m:e>
                                  <m:sub>
                                    <m:r>
                                      <a:rPr lang="es-ES_tradnl" sz="1200" noProof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func>
                                  <m:funcPr>
                                    <m:ctrlPr>
                                      <a:rPr lang="es-ES_tradnl" sz="1200" noProof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s-ES_tradnl" sz="1200" noProof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𝐥𝐨𝐠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s-ES_tradnl" sz="1200" noProof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s-ES_tradnl" sz="1200" noProof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𝐋</m:t>
                                        </m:r>
                                      </m:e>
                                      <m:sub>
                                        <m:r>
                                          <a:rPr lang="es-ES_tradnl" sz="1200" noProof="0" smtClean="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𝒂𝒄𝒄</m:t>
                                        </m:r>
                                      </m:sub>
                                    </m:sSub>
                                  </m:e>
                                </m:func>
                              </m:oMath>
                            </m:oMathPara>
                          </a14:m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s-ES_tradnl" sz="1200" noProof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1200" noProof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s-ES_tradnl" sz="1200" noProof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𝟏𝟑</m:t>
                                    </m:r>
                                    <m:r>
                                      <a:rPr lang="es-ES_tradnl" sz="1200" noProof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ES_tradnl" sz="1200" noProof="0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𝟑𝟏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Dust</a:t>
                          </a:r>
                        </a:p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 err="1">
                              <a:effectLst/>
                            </a:rPr>
                            <a:t>cavity</a:t>
                          </a:r>
                          <a:r>
                            <a:rPr lang="es-ES_tradnl" sz="1200" noProof="0" dirty="0">
                              <a:effectLst/>
                            </a:rPr>
                            <a:t> (AU)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CO </a:t>
                          </a:r>
                          <a:r>
                            <a:rPr lang="es-ES_tradnl" sz="1200" noProof="0" dirty="0" err="1">
                              <a:effectLst/>
                            </a:rPr>
                            <a:t>range</a:t>
                          </a:r>
                          <a:r>
                            <a:rPr lang="es-ES_tradnl" sz="1200" noProof="0" dirty="0">
                              <a:effectLst/>
                            </a:rPr>
                            <a:t> (</a:t>
                          </a:r>
                          <a14:m>
                            <m:oMath xmlns:m="http://schemas.openxmlformats.org/officeDocument/2006/math">
                              <m:r>
                                <a:rPr lang="es-ES_tradnl" sz="1200" noProof="0" smtClean="0">
                                  <a:effectLst/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oMath>
                          </a14:m>
                          <a:r>
                            <a:rPr lang="es-ES_tradnl" sz="1200" noProof="0" dirty="0">
                              <a:effectLst/>
                            </a:rPr>
                            <a:t>m)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695416632"/>
                      </a:ext>
                    </a:extLst>
                  </a:tr>
                  <a:tr h="158968">
                    <a:tc>
                      <a:txBody>
                        <a:bodyPr/>
                        <a:lstStyle/>
                        <a:p>
                          <a:pPr marL="0" marR="0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RU Lup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0.55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1.45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-0.01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-0.53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…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4.65-4.98 (P1-P30)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98461107"/>
                      </a:ext>
                    </a:extLst>
                  </a:tr>
                  <a:tr h="188747">
                    <a:tc>
                      <a:txBody>
                        <a:bodyPr/>
                        <a:lstStyle/>
                        <a:p>
                          <a:pPr marL="0" marR="0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AA Tau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0.6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0.5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-1.43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-0.36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28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4.65-4.90 (P1-P24)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82658270"/>
                      </a:ext>
                    </a:extLst>
                  </a:tr>
                  <a:tr h="152400">
                    <a:tc>
                      <a:txBody>
                        <a:bodyPr/>
                        <a:lstStyle/>
                        <a:p>
                          <a:pPr marL="0" marR="0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DR Tau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0.93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0.63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-0.24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-0.34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…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4.64-4.99 (P2-P32)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592805371"/>
                      </a:ext>
                    </a:extLst>
                  </a:tr>
                  <a:tr h="186048">
                    <a:tc>
                      <a:txBody>
                        <a:bodyPr/>
                        <a:lstStyle/>
                        <a:p>
                          <a:pPr marL="0" marR="0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HD 144432S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1.7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14.8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-0.35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-0.28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…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4.64-4.77 (P1-P11)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540991911"/>
                      </a:ext>
                    </a:extLst>
                  </a:tr>
                  <a:tr h="186048">
                    <a:tc>
                      <a:txBody>
                        <a:bodyPr/>
                        <a:lstStyle/>
                        <a:p>
                          <a:pPr marL="0" marR="0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TW Cha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1.0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0.38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-1.66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-0.16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…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4.73-4.99 (P1-P14)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370931262"/>
                      </a:ext>
                    </a:extLst>
                  </a:tr>
                  <a:tr h="222965">
                    <a:tc>
                      <a:txBody>
                        <a:bodyPr/>
                        <a:lstStyle/>
                        <a:p>
                          <a:pPr marL="0" marR="0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EX Lup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0.5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1.1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-1.3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-0.14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…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4.66-4.89 (P1-P23)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801108511"/>
                      </a:ext>
                    </a:extLst>
                  </a:tr>
                  <a:tr h="186048">
                    <a:tc>
                      <a:txBody>
                        <a:bodyPr/>
                        <a:lstStyle/>
                        <a:p>
                          <a:pPr marL="0" marR="0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Do Ar 44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1.22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0.93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-0.73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0.8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34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4.64-4.77 (P1-P11)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151490311"/>
                      </a:ext>
                    </a:extLst>
                  </a:tr>
                  <a:tr h="186048">
                    <a:tc>
                      <a:txBody>
                        <a:bodyPr/>
                        <a:lstStyle/>
                        <a:p>
                          <a:pPr marL="0" marR="0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HD 36112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1.56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11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-0.1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0.82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62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4.55-5.15 (P1-P47)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047412800"/>
                      </a:ext>
                    </a:extLst>
                  </a:tr>
                  <a:tr h="186048">
                    <a:tc>
                      <a:txBody>
                        <a:bodyPr/>
                        <a:lstStyle/>
                        <a:p>
                          <a:pPr marL="0" marR="0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TW Hya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0.61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0.23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-1.53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0.96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2.4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4.59-4.81 (P1-P14)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558267074"/>
                      </a:ext>
                    </a:extLst>
                  </a:tr>
                  <a:tr h="186048">
                    <a:tc>
                      <a:txBody>
                        <a:bodyPr/>
                        <a:lstStyle/>
                        <a:p>
                          <a:pPr marL="0" marR="0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HD 142527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2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16.3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0.8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1.02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120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4.65-4.9 (P1-P23)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743491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EC4C7C87-9797-AB8F-3088-5B8198AF3F9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4122892"/>
                  </p:ext>
                </p:extLst>
              </p:nvPr>
            </p:nvGraphicFramePr>
            <p:xfrm>
              <a:off x="2132075" y="2160589"/>
              <a:ext cx="7924800" cy="2420592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43000">
                      <a:extLst>
                        <a:ext uri="{9D8B030D-6E8A-4147-A177-3AD203B41FA5}">
                          <a16:colId xmlns:a16="http://schemas.microsoft.com/office/drawing/2014/main" val="2600928355"/>
                        </a:ext>
                      </a:extLst>
                    </a:gridCol>
                    <a:gridCol w="1066800">
                      <a:extLst>
                        <a:ext uri="{9D8B030D-6E8A-4147-A177-3AD203B41FA5}">
                          <a16:colId xmlns:a16="http://schemas.microsoft.com/office/drawing/2014/main" val="2403635189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865700936"/>
                        </a:ext>
                      </a:extLst>
                    </a:gridCol>
                    <a:gridCol w="990600">
                      <a:extLst>
                        <a:ext uri="{9D8B030D-6E8A-4147-A177-3AD203B41FA5}">
                          <a16:colId xmlns:a16="http://schemas.microsoft.com/office/drawing/2014/main" val="3001935575"/>
                        </a:ext>
                      </a:extLst>
                    </a:gridCol>
                    <a:gridCol w="1066800">
                      <a:extLst>
                        <a:ext uri="{9D8B030D-6E8A-4147-A177-3AD203B41FA5}">
                          <a16:colId xmlns:a16="http://schemas.microsoft.com/office/drawing/2014/main" val="3908211427"/>
                        </a:ext>
                      </a:extLst>
                    </a:gridCol>
                    <a:gridCol w="1143000">
                      <a:extLst>
                        <a:ext uri="{9D8B030D-6E8A-4147-A177-3AD203B41FA5}">
                          <a16:colId xmlns:a16="http://schemas.microsoft.com/office/drawing/2014/main" val="3147926855"/>
                        </a:ext>
                      </a:extLst>
                    </a:gridCol>
                    <a:gridCol w="1600200">
                      <a:extLst>
                        <a:ext uri="{9D8B030D-6E8A-4147-A177-3AD203B41FA5}">
                          <a16:colId xmlns:a16="http://schemas.microsoft.com/office/drawing/2014/main" val="2205770331"/>
                        </a:ext>
                      </a:extLst>
                    </a:gridCol>
                  </a:tblGrid>
                  <a:tr h="526832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Star Name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107143" t="-2381" r="-539286" b="-37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41667" t="-2381" r="-529167" b="-37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11392" t="-2381" r="-382278" b="-37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86905" t="-2381" r="-259524" b="-37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Dust</a:t>
                          </a:r>
                        </a:p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 err="1">
                              <a:effectLst/>
                            </a:rPr>
                            <a:t>cavity</a:t>
                          </a:r>
                          <a:r>
                            <a:rPr lang="es-ES_tradnl" sz="1200" noProof="0" dirty="0">
                              <a:effectLst/>
                            </a:rPr>
                            <a:t> (AU)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396032" t="-2381" r="-1587" b="-37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95416632"/>
                      </a:ext>
                    </a:extLst>
                  </a:tr>
                  <a:tr h="182880">
                    <a:tc>
                      <a:txBody>
                        <a:bodyPr/>
                        <a:lstStyle/>
                        <a:p>
                          <a:pPr marL="0" marR="0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RU Lup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0.55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1.45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-0.01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-0.53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…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4.65-4.98 (P1-P30)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98461107"/>
                      </a:ext>
                    </a:extLst>
                  </a:tr>
                  <a:tr h="188747">
                    <a:tc>
                      <a:txBody>
                        <a:bodyPr/>
                        <a:lstStyle/>
                        <a:p>
                          <a:pPr marL="0" marR="0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AA Tau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0.6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0.5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-1.43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-0.36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28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4.65-4.90 (P1-P24)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82658270"/>
                      </a:ext>
                    </a:extLst>
                  </a:tr>
                  <a:tr h="182880">
                    <a:tc>
                      <a:txBody>
                        <a:bodyPr/>
                        <a:lstStyle/>
                        <a:p>
                          <a:pPr marL="0" marR="0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DR Tau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0.93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0.63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-0.24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-0.34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…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4.64-4.99 (P2-P32)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592805371"/>
                      </a:ext>
                    </a:extLst>
                  </a:tr>
                  <a:tr h="186048">
                    <a:tc>
                      <a:txBody>
                        <a:bodyPr/>
                        <a:lstStyle/>
                        <a:p>
                          <a:pPr marL="0" marR="0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HD 144432S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1.7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14.8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-0.35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-0.28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…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4.64-4.77 (P1-P11)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540991911"/>
                      </a:ext>
                    </a:extLst>
                  </a:tr>
                  <a:tr h="186048">
                    <a:tc>
                      <a:txBody>
                        <a:bodyPr/>
                        <a:lstStyle/>
                        <a:p>
                          <a:pPr marL="0" marR="0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TW Cha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1.0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0.38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-1.66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-0.16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…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4.73-4.99 (P1-P14)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370931262"/>
                      </a:ext>
                    </a:extLst>
                  </a:tr>
                  <a:tr h="222965">
                    <a:tc>
                      <a:txBody>
                        <a:bodyPr/>
                        <a:lstStyle/>
                        <a:p>
                          <a:pPr marL="0" marR="0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EX Lup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0.5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1.1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-1.3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-0.14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…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4.66-4.89 (P1-P23)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801108511"/>
                      </a:ext>
                    </a:extLst>
                  </a:tr>
                  <a:tr h="186048">
                    <a:tc>
                      <a:txBody>
                        <a:bodyPr/>
                        <a:lstStyle/>
                        <a:p>
                          <a:pPr marL="0" marR="0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Do Ar 44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1.22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0.93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-0.73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0.8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34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4.64-4.77 (P1-P11)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151490311"/>
                      </a:ext>
                    </a:extLst>
                  </a:tr>
                  <a:tr h="186048">
                    <a:tc>
                      <a:txBody>
                        <a:bodyPr/>
                        <a:lstStyle/>
                        <a:p>
                          <a:pPr marL="0" marR="0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HD 36112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1.56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11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-0.1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0.82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62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4.55-5.15 (P1-P47)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047412800"/>
                      </a:ext>
                    </a:extLst>
                  </a:tr>
                  <a:tr h="186048">
                    <a:tc>
                      <a:txBody>
                        <a:bodyPr/>
                        <a:lstStyle/>
                        <a:p>
                          <a:pPr marL="0" marR="0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TW Hya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0.61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0.23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-1.53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0.96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2.4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4.59-4.81 (P1-P14)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558267074"/>
                      </a:ext>
                    </a:extLst>
                  </a:tr>
                  <a:tr h="186048">
                    <a:tc>
                      <a:txBody>
                        <a:bodyPr/>
                        <a:lstStyle/>
                        <a:p>
                          <a:pPr marL="0" marR="0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HD 142527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2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16.3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0.8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1.02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120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s-ES_tradnl" sz="1200" noProof="0" dirty="0">
                              <a:effectLst/>
                            </a:rPr>
                            <a:t>4.65-4.9 (P1-P23)</a:t>
                          </a:r>
                          <a:endParaRPr lang="es-ES_tradnl" sz="1200" noProof="0" dirty="0">
                            <a:effectLst/>
                            <a:latin typeface="Univers" panose="020B0503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743491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0345CC6E-026A-9882-EBFE-2E0F62C40EDE}"/>
              </a:ext>
            </a:extLst>
          </p:cNvPr>
          <p:cNvSpPr txBox="1"/>
          <p:nvPr/>
        </p:nvSpPr>
        <p:spPr>
          <a:xfrm>
            <a:off x="2132074" y="4590786"/>
            <a:ext cx="7924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s-ES_tradnl" sz="1200" i="1" noProof="0" dirty="0" err="1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Sources</a:t>
            </a:r>
            <a:r>
              <a:rPr lang="es-ES_tradnl" sz="1200" i="1" noProof="0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s-ES_tradnl" sz="1200" noProof="0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s-ES_tradnl" sz="1200" noProof="0" dirty="0" err="1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s-ES_tradnl" sz="1200" noProof="0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Allen et al. 2017; Andrews et al. 2016; Fairlamb et al. 2015; Fang et al. 2018; Francis et al. 2020; Furlan et al. 2009; Herczeg and Hillenbrand 2014; Ingleby et al. 2013; Long et al. 2019; </a:t>
            </a:r>
            <a:r>
              <a:rPr lang="es-ES_tradnl" sz="1200" noProof="0" dirty="0" err="1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Maaskant</a:t>
            </a:r>
            <a:r>
              <a:rPr lang="es-ES_tradnl" sz="1200" noProof="0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et al. 2014; Manara et al. 2016; </a:t>
            </a:r>
            <a:r>
              <a:rPr lang="es-ES_tradnl" sz="1200" noProof="0" dirty="0" err="1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Menu</a:t>
            </a:r>
            <a:r>
              <a:rPr lang="es-ES_tradnl" sz="1200" noProof="0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et al. 2015; </a:t>
            </a:r>
            <a:r>
              <a:rPr lang="es-ES_tradnl" sz="1200" noProof="0" dirty="0" err="1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Mendigutía</a:t>
            </a:r>
            <a:r>
              <a:rPr lang="es-ES_tradnl" sz="1200" noProof="0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et al. 2014; Pascucci et al. 2016;</a:t>
            </a:r>
            <a:r>
              <a:rPr lang="es-ES_tradnl" sz="1200" i="1" noProof="0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_tradnl" sz="1200" noProof="0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Pinilla et al. 2018; </a:t>
            </a:r>
            <a:r>
              <a:rPr lang="es-ES_tradnl" sz="1200" noProof="0" dirty="0" err="1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Salyk</a:t>
            </a:r>
            <a:r>
              <a:rPr lang="es-ES_tradnl" sz="1200" noProof="0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et al. 2013; </a:t>
            </a:r>
            <a:r>
              <a:rPr lang="es-ES_tradnl" sz="1200" noProof="0" dirty="0" err="1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Vioque</a:t>
            </a:r>
            <a:r>
              <a:rPr lang="es-ES_tradnl" sz="1200" noProof="0" dirty="0"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et al. 2018.</a:t>
            </a:r>
            <a:endParaRPr lang="es-ES_tradnl" noProof="0" dirty="0">
              <a:effectLst/>
              <a:latin typeface="Univers" panose="020B0503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83E7DE6-9327-8C2B-2B7E-D11285D6E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3152" y="399571"/>
            <a:ext cx="4337303" cy="1066800"/>
          </a:xfrm>
        </p:spPr>
        <p:txBody>
          <a:bodyPr/>
          <a:lstStyle/>
          <a:p>
            <a:endParaRPr lang="es-ES_tradnl" noProof="0" dirty="0"/>
          </a:p>
        </p:txBody>
      </p:sp>
    </p:spTree>
    <p:extLst>
      <p:ext uri="{BB962C8B-B14F-4D97-AF65-F5344CB8AC3E}">
        <p14:creationId xmlns:p14="http://schemas.microsoft.com/office/powerpoint/2010/main" val="1619363682"/>
      </p:ext>
    </p:extLst>
  </p:cSld>
  <p:clrMapOvr>
    <a:masterClrMapping/>
  </p:clrMapOvr>
</p:sld>
</file>

<file path=ppt/theme/theme1.xml><?xml version="1.0" encoding="utf-8"?>
<a:theme xmlns:a="http://schemas.openxmlformats.org/drawingml/2006/main" name="Blockwork elegance">
  <a:themeElements>
    <a:clrScheme name="Blockwork Elegance- Copilot 1">
      <a:dk1>
        <a:srgbClr val="000000"/>
      </a:dk1>
      <a:lt1>
        <a:srgbClr val="FFFFFF"/>
      </a:lt1>
      <a:dk2>
        <a:srgbClr val="000102"/>
      </a:dk2>
      <a:lt2>
        <a:srgbClr val="F6F2E6"/>
      </a:lt2>
      <a:accent1>
        <a:srgbClr val="28436C"/>
      </a:accent1>
      <a:accent2>
        <a:srgbClr val="F3BC24"/>
      </a:accent2>
      <a:accent3>
        <a:srgbClr val="8E7B63"/>
      </a:accent3>
      <a:accent4>
        <a:srgbClr val="CC563B"/>
      </a:accent4>
      <a:accent5>
        <a:srgbClr val="A3452F"/>
      </a:accent5>
      <a:accent6>
        <a:srgbClr val="BB9D83"/>
      </a:accent6>
      <a:hlink>
        <a:srgbClr val="4E60DA"/>
      </a:hlink>
      <a:folHlink>
        <a:srgbClr val="4E6094"/>
      </a:folHlink>
    </a:clrScheme>
    <a:fontScheme name="Blockwork Elegance">
      <a:majorFont>
        <a:latin typeface="Bahnschrift SemiLight"/>
        <a:ea typeface=""/>
        <a:cs typeface=""/>
      </a:majorFont>
      <a:minorFont>
        <a:latin typeface="Bahnschrift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work elegance_fcaeb239-e0ad-43c4-9739-4084ddd7c62f_wac_v2" id="{21E82CDE-DB0F-446A-AB1C-C548E4C4E61C}" vid="{FC4C4127-EA88-45F9-9442-09B36E6C916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EA42C18-4C38-43BB-8CE3-C963EDA9CBB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C3B381C-6232-408C-B65A-8475398E4C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DE0AE46-2EED-447A-8B24-DFD65B70D44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{B9C844BF-C53A-4256-B6E3-5085CB166BA4}0f45c1b8-b519-4737-8f12-a18148944ef7-TFfcaeb239-e0ad-43c4-9739-4084ddd7c62fe496f549_win32</Template>
  <TotalTime>6458</TotalTime>
  <Words>914</Words>
  <Application>Microsoft Macintosh PowerPoint</Application>
  <PresentationFormat>Widescreen</PresentationFormat>
  <Paragraphs>225</Paragraphs>
  <Slides>23</Slides>
  <Notes>23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Aptos</vt:lpstr>
      <vt:lpstr>Arial</vt:lpstr>
      <vt:lpstr>Bahnschrift SemiLight</vt:lpstr>
      <vt:lpstr>Cambria</vt:lpstr>
      <vt:lpstr>Cambria Math</vt:lpstr>
      <vt:lpstr>Univers</vt:lpstr>
      <vt:lpstr>Blockwork elegance</vt:lpstr>
      <vt:lpstr>Planetas en Construcción: Un Viaje a Través de  Espectra molecular Dia 1</vt:lpstr>
      <vt:lpstr>Introducciones</vt:lpstr>
      <vt:lpstr>Introducciones (ustedes 🫵) </vt:lpstr>
      <vt:lpstr>IntroducciOnes (a Discos protoplanetarios)</vt:lpstr>
      <vt:lpstr>IntroducciOnes (a Discos protoplanetarios)</vt:lpstr>
      <vt:lpstr>IntroducciOnes (a Discos protoplanetarios)</vt:lpstr>
      <vt:lpstr>Regímenes de Observación Astronómica</vt:lpstr>
      <vt:lpstr>Regímenes de Observación Astronómica</vt:lpstr>
      <vt:lpstr>PowerPoint Presentation</vt:lpstr>
      <vt:lpstr>PowerPoint Presentation</vt:lpstr>
      <vt:lpstr>PowerPoint Presentation</vt:lpstr>
      <vt:lpstr>PowerPoint Presentation</vt:lpstr>
      <vt:lpstr>Cinematica Molecular </vt:lpstr>
      <vt:lpstr>Cinematica Molecular </vt:lpstr>
      <vt:lpstr>Monóxido de Carbono en el interior del disco</vt:lpstr>
      <vt:lpstr>Monóxido de Carbono en el interior del disco</vt:lpstr>
      <vt:lpstr>Monóxido de Carbono en el interior del disco</vt:lpstr>
      <vt:lpstr>Monóxido de Carbono en el interior del disco</vt:lpstr>
      <vt:lpstr>Desarrollo del interior</vt:lpstr>
      <vt:lpstr>8 discos, 8 grupos</vt:lpstr>
      <vt:lpstr>Actividad 1</vt:lpstr>
      <vt:lpstr>Instrucciones actividad 1</vt:lpstr>
      <vt:lpstr>8 discos, 8 grupos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Sanchez</dc:creator>
  <cp:lastModifiedBy>Michael Sanchez</cp:lastModifiedBy>
  <cp:revision>61</cp:revision>
  <dcterms:created xsi:type="dcterms:W3CDTF">2026-09-11T00:44:40Z</dcterms:created>
  <dcterms:modified xsi:type="dcterms:W3CDTF">2026-09-20T22:13:49Z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